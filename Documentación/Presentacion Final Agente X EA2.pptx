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Montserrat Bold" charset="1" panose="00000800000000000000"/>
      <p:regular r:id="rId43"/>
    </p:embeddedFont>
    <p:embeddedFont>
      <p:font typeface="Montserrat" charset="1" panose="00000500000000000000"/>
      <p:regular r:id="rId44"/>
    </p:embeddedFont>
    <p:embeddedFont>
      <p:font typeface="Calibri (MS) Bold" charset="1" panose="020F0702030404030204"/>
      <p:regular r:id="rId48"/>
    </p:embeddedFont>
    <p:embeddedFont>
      <p:font typeface="Calibri (MS)" charset="1" panose="020F0502020204030204"/>
      <p:regular r:id="rId49"/>
    </p:embeddedFont>
    <p:embeddedFont>
      <p:font typeface="Calibri (MS) Italics" charset="1" panose="020F05020202040A0204"/>
      <p:regular r:id="rId50"/>
    </p:embeddedFont>
    <p:embeddedFont>
      <p:font typeface="Open Sans 1 Bold" charset="1" panose="020B0806030504020204"/>
      <p:regular r:id="rId63"/>
    </p:embeddedFont>
    <p:embeddedFont>
      <p:font typeface="Consolas Bold" charset="1" panose="020B0709020204030204"/>
      <p:regular r:id="rId73"/>
    </p:embeddedFont>
    <p:embeddedFont>
      <p:font typeface="Open Sans 1" charset="1" panose="020B0606030504020204"/>
      <p:regular r:id="rId76"/>
    </p:embeddedFont>
    <p:embeddedFont>
      <p:font typeface="Open Sans 2 Bold" charset="1" panose="00000000000000000000"/>
      <p:regular r:id="rId7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Masters/notesMaster1.xml" Type="http://schemas.openxmlformats.org/officeDocument/2006/relationships/notesMaster"/><Relationship Id="rId46" Target="theme/theme2.xml" Type="http://schemas.openxmlformats.org/officeDocument/2006/relationships/theme"/><Relationship Id="rId47" Target="notesSlides/notesSlide1.xml" Type="http://schemas.openxmlformats.org/officeDocument/2006/relationships/notes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2.xml" Type="http://schemas.openxmlformats.org/officeDocument/2006/relationships/notesSlide"/><Relationship Id="rId52" Target="notesSlides/notesSlide3.xml" Type="http://schemas.openxmlformats.org/officeDocument/2006/relationships/notesSlide"/><Relationship Id="rId53" Target="notesSlides/notesSlide4.xml" Type="http://schemas.openxmlformats.org/officeDocument/2006/relationships/notesSlide"/><Relationship Id="rId54" Target="notesSlides/notesSlide5.xml" Type="http://schemas.openxmlformats.org/officeDocument/2006/relationships/notesSlide"/><Relationship Id="rId55" Target="notesSlides/notesSlide6.xml" Type="http://schemas.openxmlformats.org/officeDocument/2006/relationships/notesSlide"/><Relationship Id="rId56" Target="notesSlides/notesSlide7.xml" Type="http://schemas.openxmlformats.org/officeDocument/2006/relationships/notesSlide"/><Relationship Id="rId57" Target="notesSlides/notesSlide8.xml" Type="http://schemas.openxmlformats.org/officeDocument/2006/relationships/notesSlide"/><Relationship Id="rId58" Target="notesSlides/notesSlide9.xml" Type="http://schemas.openxmlformats.org/officeDocument/2006/relationships/notesSlide"/><Relationship Id="rId59" Target="notesSlides/notesSlide1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1.xml" Type="http://schemas.openxmlformats.org/officeDocument/2006/relationships/notesSlide"/><Relationship Id="rId61" Target="notesSlides/notesSlide12.xml" Type="http://schemas.openxmlformats.org/officeDocument/2006/relationships/notesSlide"/><Relationship Id="rId62" Target="notesSlides/notesSlide13.xml" Type="http://schemas.openxmlformats.org/officeDocument/2006/relationships/notesSlide"/><Relationship Id="rId63" Target="fonts/font63.fntdata" Type="http://schemas.openxmlformats.org/officeDocument/2006/relationships/font"/><Relationship Id="rId64" Target="notesSlides/notesSlide14.xml" Type="http://schemas.openxmlformats.org/officeDocument/2006/relationships/notesSlide"/><Relationship Id="rId65" Target="notesSlides/notesSlide15.xml" Type="http://schemas.openxmlformats.org/officeDocument/2006/relationships/notesSlide"/><Relationship Id="rId66" Target="notesSlides/notesSlide16.xml" Type="http://schemas.openxmlformats.org/officeDocument/2006/relationships/notesSlide"/><Relationship Id="rId67" Target="notesSlides/notesSlide17.xml" Type="http://schemas.openxmlformats.org/officeDocument/2006/relationships/notesSlide"/><Relationship Id="rId68" Target="notesSlides/notesSlide18.xml" Type="http://schemas.openxmlformats.org/officeDocument/2006/relationships/notesSlide"/><Relationship Id="rId69" Target="notesSlides/notesSlide19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0.xml" Type="http://schemas.openxmlformats.org/officeDocument/2006/relationships/notesSlide"/><Relationship Id="rId71" Target="notesSlides/notesSlide21.xml" Type="http://schemas.openxmlformats.org/officeDocument/2006/relationships/notesSlide"/><Relationship Id="rId72" Target="notesSlides/notesSlide22.xml" Type="http://schemas.openxmlformats.org/officeDocument/2006/relationships/notesSlide"/><Relationship Id="rId73" Target="fonts/font73.fntdata" Type="http://schemas.openxmlformats.org/officeDocument/2006/relationships/font"/><Relationship Id="rId74" Target="notesSlides/notesSlide23.xml" Type="http://schemas.openxmlformats.org/officeDocument/2006/relationships/notesSlide"/><Relationship Id="rId75" Target="notesSlides/notesSlide24.xml" Type="http://schemas.openxmlformats.org/officeDocument/2006/relationships/notesSlide"/><Relationship Id="rId76" Target="fonts/font76.fntdata" Type="http://schemas.openxmlformats.org/officeDocument/2006/relationships/font"/><Relationship Id="rId77" Target="notesSlides/notesSlide25.xml" Type="http://schemas.openxmlformats.org/officeDocument/2006/relationships/notesSlide"/><Relationship Id="rId78" Target="fonts/font78.fntdata" Type="http://schemas.openxmlformats.org/officeDocument/2006/relationships/font"/><Relationship Id="rId79" Target="notesSlides/notesSlide26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7.xml" Type="http://schemas.openxmlformats.org/officeDocument/2006/relationships/notesSlide"/><Relationship Id="rId81" Target="notesSlides/notesSlide28.xml" Type="http://schemas.openxmlformats.org/officeDocument/2006/relationships/notesSlide"/><Relationship Id="rId82" Target="notesSlides/notesSlide29.xml" Type="http://schemas.openxmlformats.org/officeDocument/2006/relationships/notesSlide"/><Relationship Id="rId83" Target="notesSlides/notesSlide30.xml" Type="http://schemas.openxmlformats.org/officeDocument/2006/relationships/notesSlide"/><Relationship Id="rId84" Target="notesSlides/notesSlide31.xml" Type="http://schemas.openxmlformats.org/officeDocument/2006/relationships/notesSlide"/><Relationship Id="rId85" Target="notesSlides/notesSlide32.xml" Type="http://schemas.openxmlformats.org/officeDocument/2006/relationships/notesSlide"/><Relationship Id="rId86" Target="notesSlides/notesSlide33.xml" Type="http://schemas.openxmlformats.org/officeDocument/2006/relationships/notesSlide"/><Relationship Id="rId87" Target="notesSlides/notesSlide34.xml" Type="http://schemas.openxmlformats.org/officeDocument/2006/relationships/notesSlide"/><Relationship Id="rId88" Target="notesSlides/notesSlide35.xml" Type="http://schemas.openxmlformats.org/officeDocument/2006/relationships/notesSlide"/><Relationship Id="rId89" Target="notesSlides/notesSlide36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embeddings/oleObject3.bin" Type="http://schemas.openxmlformats.org/officeDocument/2006/relationships/oleObject"/><Relationship Id="rId6" Target="../media/image9.png" Type="http://schemas.openxmlformats.org/officeDocument/2006/relationships/image"/><Relationship Id="rId7" Target="../embeddings/oleObject4.bin" Type="http://schemas.openxmlformats.org/officeDocument/2006/relationships/oleObject"/><Relationship Id="rId8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embeddings/oleObject5.bin" Type="http://schemas.openxmlformats.org/officeDocument/2006/relationships/oleObject"/><Relationship Id="rId6" Target="../media/image12.png" Type="http://schemas.openxmlformats.org/officeDocument/2006/relationships/image"/><Relationship Id="rId7" Target="../embeddings/oleObject6.bin" Type="http://schemas.openxmlformats.org/officeDocument/2006/relationships/oleObject"/><Relationship Id="rId8" Target="../media/image13.png" Type="http://schemas.openxmlformats.org/officeDocument/2006/relationships/image"/><Relationship Id="rId9" Target="../embeddings/oleObject7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embeddings/oleObject8.bin" Type="http://schemas.openxmlformats.org/officeDocument/2006/relationships/oleObject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embeddings/oleObject9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1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20.png" Type="http://schemas.openxmlformats.org/officeDocument/2006/relationships/image"/><Relationship Id="rId5" Target="../embeddings/oleObject10.bin" Type="http://schemas.openxmlformats.org/officeDocument/2006/relationships/oleObject"/><Relationship Id="rId6" Target="../media/image21.png" Type="http://schemas.openxmlformats.org/officeDocument/2006/relationships/image"/><Relationship Id="rId7" Target="../embeddings/oleObject1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24.png" Type="http://schemas.openxmlformats.org/officeDocument/2006/relationships/image"/><Relationship Id="rId5" Target="../embeddings/oleObject12.bin" Type="http://schemas.openxmlformats.org/officeDocument/2006/relationships/oleObject"/><Relationship Id="rId6" Target="../media/image25.png" Type="http://schemas.openxmlformats.org/officeDocument/2006/relationships/image"/><Relationship Id="rId7" Target="../embeddings/oleObject13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26.png" Type="http://schemas.openxmlformats.org/officeDocument/2006/relationships/image"/><Relationship Id="rId5" Target="../embeddings/oleObject14.bin" Type="http://schemas.openxmlformats.org/officeDocument/2006/relationships/oleObject"/><Relationship Id="rId6" Target="../media/image27.png" Type="http://schemas.openxmlformats.org/officeDocument/2006/relationships/image"/><Relationship Id="rId7" Target="../embeddings/oleObject15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30.png" Type="http://schemas.openxmlformats.org/officeDocument/2006/relationships/image"/><Relationship Id="rId5" Target="../embeddings/oleObject16.bin" Type="http://schemas.openxmlformats.org/officeDocument/2006/relationships/oleObject"/><Relationship Id="rId6" Target="../media/image3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Relationship Id="rId4" Target="../media/image32.png" Type="http://schemas.openxmlformats.org/officeDocument/2006/relationships/image"/><Relationship Id="rId5" Target="../embeddings/oleObject17.bin" Type="http://schemas.openxmlformats.org/officeDocument/2006/relationships/oleObject"/><Relationship Id="rId6" Target="../media/image3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Relationship Id="rId4" Target="../media/image34.png" Type="http://schemas.openxmlformats.org/officeDocument/2006/relationships/image"/><Relationship Id="rId5" Target="../embeddings/oleObject18.bin" Type="http://schemas.openxmlformats.org/officeDocument/2006/relationships/oleObject"/><Relationship Id="rId6" Target="../media/image3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jpeg" Type="http://schemas.openxmlformats.org/officeDocument/2006/relationships/image"/><Relationship Id="rId4" Target="../media/image36.png" Type="http://schemas.openxmlformats.org/officeDocument/2006/relationships/image"/><Relationship Id="rId5" Target="../embeddings/oleObject19.bin" Type="http://schemas.openxmlformats.org/officeDocument/2006/relationships/oleObject"/><Relationship Id="rId6" Target="../media/image37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jpeg" Type="http://schemas.openxmlformats.org/officeDocument/2006/relationships/image"/><Relationship Id="rId4" Target="https://backend-agentex.onrender.com/api/docs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.jpeg" Type="http://schemas.openxmlformats.org/officeDocument/2006/relationships/image"/><Relationship Id="rId4" Target="../media/image38.png" Type="http://schemas.openxmlformats.org/officeDocument/2006/relationships/image"/><Relationship Id="rId5" Target="../media/image39.jpeg" Type="http://schemas.openxmlformats.org/officeDocument/2006/relationships/image"/><Relationship Id="rId6" Target="../media/image40.jpeg" Type="http://schemas.openxmlformats.org/officeDocument/2006/relationships/image"/><Relationship Id="rId7" Target="../media/image41.jpe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2.jpeg" Type="http://schemas.openxmlformats.org/officeDocument/2006/relationships/image"/><Relationship Id="rId4" Target="https://front-agente-x.vercel.app/login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2.jpe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embeddings/oleObject20.bin" Type="http://schemas.openxmlformats.org/officeDocument/2006/relationships/oleObjec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.jpeg" Type="http://schemas.openxmlformats.org/officeDocument/2006/relationships/image"/><Relationship Id="rId4" Target="../media/image5.jpeg" Type="http://schemas.openxmlformats.org/officeDocument/2006/relationships/image"/><Relationship Id="rId5" Target="../media/image45.jpeg" Type="http://schemas.openxmlformats.org/officeDocument/2006/relationships/image"/><Relationship Id="rId6" Target="../media/image46.jpeg" Type="http://schemas.openxmlformats.org/officeDocument/2006/relationships/image"/><Relationship Id="rId7" Target="../media/image47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2.jpe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2.jpeg" Type="http://schemas.openxmlformats.org/officeDocument/2006/relationships/image"/><Relationship Id="rId4" Target="../media/image37.jpeg" Type="http://schemas.openxmlformats.org/officeDocument/2006/relationships/image"/><Relationship Id="rId5" Target="../media/image39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2.jpe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Relationship Id="rId3" Target="../media/image2.jpeg" Type="http://schemas.openxmlformats.org/officeDocument/2006/relationships/image"/><Relationship Id="rId4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1950"/>
            <a:ext cx="18288000" cy="10450901"/>
            <a:chOff x="0" y="0"/>
            <a:chExt cx="4816593" cy="2752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52501"/>
            </a:xfrm>
            <a:custGeom>
              <a:avLst/>
              <a:gdLst/>
              <a:ahLst/>
              <a:cxnLst/>
              <a:rect r="r" b="b" t="t" l="l"/>
              <a:pathLst>
                <a:path h="27525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52501"/>
                  </a:lnTo>
                  <a:lnTo>
                    <a:pt x="0" y="27525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9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35667" y="1227029"/>
            <a:ext cx="848990" cy="809571"/>
            <a:chOff x="0" y="0"/>
            <a:chExt cx="223602" cy="213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84657" y="1227029"/>
            <a:ext cx="848990" cy="809571"/>
            <a:chOff x="0" y="0"/>
            <a:chExt cx="223602" cy="2132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150F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33647" y="1227029"/>
            <a:ext cx="848990" cy="809571"/>
            <a:chOff x="0" y="0"/>
            <a:chExt cx="223602" cy="2132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602" cy="213220"/>
            </a:xfrm>
            <a:custGeom>
              <a:avLst/>
              <a:gdLst/>
              <a:ahLst/>
              <a:cxnLst/>
              <a:rect r="r" b="b" t="t" l="l"/>
              <a:pathLst>
                <a:path h="213220" w="223602">
                  <a:moveTo>
                    <a:pt x="0" y="0"/>
                  </a:moveTo>
                  <a:lnTo>
                    <a:pt x="223602" y="0"/>
                  </a:lnTo>
                  <a:lnTo>
                    <a:pt x="223602" y="213220"/>
                  </a:lnTo>
                  <a:lnTo>
                    <a:pt x="0" y="2132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3602" cy="25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61710" y="304443"/>
            <a:ext cx="6546953" cy="1448513"/>
          </a:xfrm>
          <a:custGeom>
            <a:avLst/>
            <a:gdLst/>
            <a:ahLst/>
            <a:cxnLst/>
            <a:rect r="r" b="b" t="t" l="l"/>
            <a:pathLst>
              <a:path h="1448513" w="6546953">
                <a:moveTo>
                  <a:pt x="0" y="0"/>
                </a:moveTo>
                <a:lnTo>
                  <a:pt x="6546953" y="0"/>
                </a:lnTo>
                <a:lnTo>
                  <a:pt x="6546953" y="1448514"/>
                </a:lnTo>
                <a:lnTo>
                  <a:pt x="0" y="1448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057162" y="4261067"/>
            <a:ext cx="7754188" cy="189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626"/>
              </a:lnSpc>
            </a:pPr>
            <a:r>
              <a:rPr lang="en-US" sz="1116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AGENTE 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77615" y="9061139"/>
            <a:ext cx="101004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TPY110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60111" y="659846"/>
            <a:ext cx="457497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de Programación Aplicado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38588" y="7315819"/>
            <a:ext cx="6547587" cy="607951"/>
            <a:chOff x="0" y="0"/>
            <a:chExt cx="8863219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63219" cy="822960"/>
            </a:xfrm>
            <a:custGeom>
              <a:avLst/>
              <a:gdLst/>
              <a:ahLst/>
              <a:cxnLst/>
              <a:rect r="r" b="b" t="t" l="l"/>
              <a:pathLst>
                <a:path h="822960" w="8863219">
                  <a:moveTo>
                    <a:pt x="0" y="0"/>
                  </a:moveTo>
                  <a:lnTo>
                    <a:pt x="8863219" y="0"/>
                  </a:lnTo>
                  <a:lnTo>
                    <a:pt x="886321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0" r="-147603" b="-4696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863219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</a:t>
              </a:r>
              <a:r>
                <a:rPr lang="en-US" sz="25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alidación de la Solución en Producción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838588" y="7885670"/>
            <a:ext cx="7044049" cy="64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b="true" sz="186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Plataforma SaaS multi-tenant de Inteligencia de Negocios Conversacional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3629" y="9014687"/>
            <a:ext cx="2133569" cy="40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  <a:spcBef>
                <a:spcPct val="0"/>
              </a:spcBef>
            </a:pPr>
            <a:r>
              <a:rPr lang="en-US" b="true" sz="240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Mauricio Lillo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EXPOSICIÓN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Exposición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885440" y="2979995"/>
          <a:ext cx="16859250" cy="4801394"/>
        </p:xfrm>
        <a:graphic>
          <a:graphicData uri="http://schemas.openxmlformats.org/drawingml/2006/table">
            <a:tbl>
              <a:tblPr/>
              <a:tblGrid>
                <a:gridCol w="9398193"/>
                <a:gridCol w="3730528"/>
                <a:gridCol w="3730528"/>
              </a:tblGrid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BLOQUE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SLIDES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TIEMPO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</a:tr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E1E1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Recap E</a:t>
                      </a:r>
                      <a:r>
                        <a:rPr lang="en-US" sz="1725">
                          <a:solidFill>
                            <a:srgbClr val="1E1E1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A1 — Contexto y problema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 – 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1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E1E1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Diseño y planificación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– 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E1E1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Arquitectura y stack tecnológico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 – 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B1F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Despliegue en la nube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13 – 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B1F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B1F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DEMO EN VIVO de la app desplegada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B1F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B1F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Evidencia de funcionamiento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16 – 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B1F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E1E1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Integraciones y cierre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18 – 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 min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685800" y="9189720"/>
            <a:ext cx="16870680" cy="548640"/>
            <a:chOff x="0" y="0"/>
            <a:chExt cx="224942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24942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Foco de la evaluación:  </a:t>
              </a:r>
              <a:r>
                <a:rPr lang="en-US" sz="1650" i="true">
                  <a:solidFill>
                    <a:srgbClr val="5C5F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demostrar que la aplicación está desplegada en la nube y funciona conforme a lo descrito en el informe. Más de la mitad del tiempo se concentra entre las slides 13 y 17.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RECAP EA1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Punto de Partida · Recap EA1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6275" y="3145155"/>
            <a:ext cx="8248650" cy="2762250"/>
            <a:chOff x="0" y="0"/>
            <a:chExt cx="10998200" cy="368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275" y="3145155"/>
            <a:ext cx="128778" cy="2762250"/>
            <a:chOff x="0" y="0"/>
            <a:chExt cx="171704" cy="368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3429000"/>
            <a:ext cx="7543800" cy="548640"/>
            <a:chOff x="0" y="0"/>
            <a:chExt cx="100584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y problema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97280" y="3998595"/>
            <a:ext cx="7543800" cy="152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Los dir</a:t>
            </a: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ectivos de PyMEs pierden horas semanales 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cruzando datos entre ERPs, planillas y reportes PDF 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para obtener respuestas simples.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La información estratégica está secuestrada detrás 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de interfaces técnicas.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17355" y="3145155"/>
            <a:ext cx="8248650" cy="2762250"/>
            <a:chOff x="0" y="0"/>
            <a:chExt cx="10998200" cy="368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7355" y="3145155"/>
            <a:ext cx="128778" cy="2762250"/>
            <a:chOff x="0" y="0"/>
            <a:chExt cx="171704" cy="368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38360" y="3429000"/>
            <a:ext cx="7543800" cy="548640"/>
            <a:chOff x="0" y="0"/>
            <a:chExt cx="100584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Mercado objetivo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38360" y="3998595"/>
            <a:ext cx="7543800" cy="122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suario 1: Dueño / Gerente de PyME con inventario, 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ventas y operaciones logísticas.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 2: Vendedor o coordinador comercial que 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necesita datos del cliente en tiempo real.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76275" y="6231255"/>
            <a:ext cx="8248650" cy="2762250"/>
            <a:chOff x="0" y="0"/>
            <a:chExt cx="10998200" cy="3683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76275" y="6231255"/>
            <a:ext cx="128778" cy="2762250"/>
            <a:chOff x="0" y="0"/>
            <a:chExt cx="171704" cy="3683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97280" y="6515100"/>
            <a:ext cx="7543800" cy="548640"/>
            <a:chOff x="0" y="0"/>
            <a:chExt cx="1005840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97280" y="7094220"/>
            <a:ext cx="7543800" cy="125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De</a:t>
            </a:r>
            <a:r>
              <a:rPr lang="en-US" sz="20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sarrollar una plataforma SaaS multi-tenant de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Agentes de IA especializados que permita a PyMEs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 sus datos operativos en lenguaje natural,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eliminando la dependencia de intermediarios técnicos.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317355" y="6231255"/>
            <a:ext cx="8248650" cy="2762250"/>
            <a:chOff x="0" y="0"/>
            <a:chExt cx="10998200" cy="3683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317355" y="6231255"/>
            <a:ext cx="128778" cy="2762250"/>
            <a:chOff x="0" y="0"/>
            <a:chExt cx="171704" cy="3683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38360" y="6515100"/>
            <a:ext cx="7543800" cy="548640"/>
            <a:chOff x="0" y="0"/>
            <a:chExt cx="100584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específicos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738360" y="7094220"/>
            <a:ext cx="7543800" cy="137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1. Arqu</a:t>
            </a:r>
            <a:r>
              <a:rPr lang="en-US" sz="18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itectura multi-tenant con aislamiento por empresa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2. Motores especializados conectados a endpoints ERP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3. Protocolo anti-alucinación jerárquico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4. Panel de administración B2B por roles diferenciados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5. Despliegue cloud con tres servicios independientes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AS-IS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Situación Inicial del Cliente (AS-IS)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9668" y="3526917"/>
            <a:ext cx="8206122" cy="512883"/>
            <a:chOff x="0" y="0"/>
            <a:chExt cx="1024128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499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</a:t>
              </a:r>
              <a:r>
                <a:rPr lang="en-US" b="true" sz="1999" spc="499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eso actual: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06733" y="2608374"/>
            <a:ext cx="128778" cy="6465570"/>
            <a:chOff x="0" y="0"/>
            <a:chExt cx="171704" cy="8620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658600" y="1543050"/>
            <a:ext cx="4454954" cy="7039740"/>
          </a:xfrm>
          <a:custGeom>
            <a:avLst/>
            <a:gdLst/>
            <a:ahLst/>
            <a:cxnLst/>
            <a:rect r="r" b="b" t="t" l="l"/>
            <a:pathLst>
              <a:path h="7039740" w="4454954">
                <a:moveTo>
                  <a:pt x="0" y="0"/>
                </a:moveTo>
                <a:lnTo>
                  <a:pt x="4454954" y="0"/>
                </a:lnTo>
                <a:lnTo>
                  <a:pt x="4454954" y="7039740"/>
                </a:lnTo>
                <a:lnTo>
                  <a:pt x="0" y="7039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89668" y="4055919"/>
            <a:ext cx="8024650" cy="219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817" indent="-214409" lvl="1">
              <a:lnSpc>
                <a:spcPts val="2843"/>
              </a:lnSpc>
              <a:buFont typeface="Arial"/>
              <a:buChar char="•"/>
            </a:pP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1. Di</a:t>
            </a: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rectivo formula una pregunta de negocio crítica</a:t>
            </a:r>
          </a:p>
          <a:p>
            <a:pPr algn="l" marL="428817" indent="-214409" lvl="1">
              <a:lnSpc>
                <a:spcPts val="2843"/>
              </a:lnSpc>
              <a:buFont typeface="Arial"/>
              <a:buChar char="•"/>
            </a:pP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2. Accede manualmente al ERP para datos de inventario</a:t>
            </a:r>
          </a:p>
          <a:p>
            <a:pPr algn="l" marL="428817" indent="-214409" lvl="1">
              <a:lnSpc>
                <a:spcPts val="2843"/>
              </a:lnSpc>
              <a:buFont typeface="Arial"/>
              <a:buChar char="•"/>
            </a:pP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3. Descarga métricas del CRM o pasarela de pagos</a:t>
            </a:r>
          </a:p>
          <a:p>
            <a:pPr algn="l" marL="428817" indent="-214409" lvl="1">
              <a:lnSpc>
                <a:spcPts val="2843"/>
              </a:lnSpc>
              <a:buFont typeface="Arial"/>
              <a:buChar char="•"/>
            </a:pP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4. Busca documentos PDF con contexto adicional</a:t>
            </a:r>
          </a:p>
          <a:p>
            <a:pPr algn="l" marL="428817" indent="-214409" lvl="1">
              <a:lnSpc>
                <a:spcPts val="2843"/>
              </a:lnSpc>
              <a:buFont typeface="Arial"/>
              <a:buChar char="•"/>
            </a:pP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5. Cruza toda la información en Excel manualmente</a:t>
            </a:r>
          </a:p>
          <a:p>
            <a:pPr algn="l" marL="428817" indent="-214409" lvl="1">
              <a:lnSpc>
                <a:spcPts val="2843"/>
              </a:lnSpc>
              <a:buFont typeface="Arial"/>
              <a:buChar char="•"/>
            </a:pPr>
            <a:r>
              <a:rPr lang="en-US" sz="2369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6. Redacta un reporte para tomar la decisión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73355" y="9511335"/>
            <a:ext cx="3611893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2: Diagrama de flujo AS-IS — ver Anexos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PLANIFICACIÓN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Planificación del Proyecto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" y="2331720"/>
            <a:ext cx="16870680" cy="480060"/>
            <a:chOff x="0" y="0"/>
            <a:chExt cx="2249424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494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C5F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</a:t>
              </a:r>
              <a:r>
                <a:rPr lang="en-US" sz="1950" i="true">
                  <a:solidFill>
                    <a:srgbClr val="5C5F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Sprints · 12 Semanas · Metodología ágil híbrida Scrum + Kanban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10062" y="2699385"/>
            <a:ext cx="128778" cy="6465570"/>
            <a:chOff x="0" y="0"/>
            <a:chExt cx="171704" cy="8620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aphicFrame>
        <p:nvGraphicFramePr>
          <p:cNvPr name="Object 26" id="26"/>
          <p:cNvGraphicFramePr/>
          <p:nvPr/>
        </p:nvGraphicFramePr>
        <p:xfrm>
          <a:off x="557656" y="2916555"/>
          <a:ext cx="5657850" cy="3143250"/>
        </p:xfrm>
        <a:graphic>
          <a:graphicData uri="http://schemas.openxmlformats.org/presentationml/2006/ole">
            <p:oleObj imgW="67818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7" id="27"/>
          <p:cNvSpPr/>
          <p:nvPr/>
        </p:nvSpPr>
        <p:spPr>
          <a:xfrm flipH="false" flipV="false" rot="0">
            <a:off x="10038519" y="1808158"/>
            <a:ext cx="8130775" cy="7033902"/>
          </a:xfrm>
          <a:custGeom>
            <a:avLst/>
            <a:gdLst/>
            <a:ahLst/>
            <a:cxnLst/>
            <a:rect r="r" b="b" t="t" l="l"/>
            <a:pathLst>
              <a:path h="7033902" w="8130775">
                <a:moveTo>
                  <a:pt x="0" y="0"/>
                </a:moveTo>
                <a:lnTo>
                  <a:pt x="8130774" y="0"/>
                </a:lnTo>
                <a:lnTo>
                  <a:pt x="8130774" y="7033902"/>
                </a:lnTo>
                <a:lnTo>
                  <a:pt x="0" y="7033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408" t="-9951" r="0" b="-1883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957812" y="9137335"/>
            <a:ext cx="4000996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Carta Gantt completa — Figuras 3.1 a 3.4 en Anexos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CLOUD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Servicios Cloud Utilizados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68632" y="2414709"/>
            <a:ext cx="128778" cy="6054090"/>
            <a:chOff x="0" y="0"/>
            <a:chExt cx="171704" cy="8072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046720"/>
            </a:xfrm>
            <a:custGeom>
              <a:avLst/>
              <a:gdLst/>
              <a:ahLst/>
              <a:cxnLst/>
              <a:rect r="r" b="b" t="t" l="l"/>
              <a:pathLst>
                <a:path h="80467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072120"/>
            </a:xfrm>
            <a:custGeom>
              <a:avLst/>
              <a:gdLst/>
              <a:ahLst/>
              <a:cxnLst/>
              <a:rect r="r" b="b" t="t" l="l"/>
              <a:pathLst>
                <a:path h="80721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059420"/>
                  </a:lnTo>
                  <a:cubicBezTo>
                    <a:pt x="171704" y="8066405"/>
                    <a:pt x="165989" y="8072120"/>
                    <a:pt x="159004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59004" y="8046720"/>
                  </a:lnTo>
                  <a:lnTo>
                    <a:pt x="159004" y="8059420"/>
                  </a:lnTo>
                  <a:lnTo>
                    <a:pt x="146304" y="80594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328197" y="2166429"/>
            <a:ext cx="9404005" cy="6265419"/>
          </a:xfrm>
          <a:custGeom>
            <a:avLst/>
            <a:gdLst/>
            <a:ahLst/>
            <a:cxnLst/>
            <a:rect r="r" b="b" t="t" l="l"/>
            <a:pathLst>
              <a:path h="6265419" w="9404005">
                <a:moveTo>
                  <a:pt x="0" y="0"/>
                </a:moveTo>
                <a:lnTo>
                  <a:pt x="9404006" y="0"/>
                </a:lnTo>
                <a:lnTo>
                  <a:pt x="9404006" y="6265419"/>
                </a:lnTo>
                <a:lnTo>
                  <a:pt x="0" y="6265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24" id="24"/>
          <p:cNvGraphicFramePr/>
          <p:nvPr/>
        </p:nvGraphicFramePr>
        <p:xfrm>
          <a:off x="369448" y="2906771"/>
          <a:ext cx="5657850" cy="3771900"/>
        </p:xfrm>
        <a:graphic>
          <a:graphicData uri="http://schemas.openxmlformats.org/presentationml/2006/ole">
            <p:oleObj imgW="6781800" imgH="4902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TO-BE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Conceptualización · Solución TO-BE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60610" y="2259330"/>
            <a:ext cx="132710" cy="6662965"/>
            <a:chOff x="0" y="0"/>
            <a:chExt cx="171704" cy="8620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aphicFrame>
        <p:nvGraphicFramePr>
          <p:cNvPr name="Object 23" id="23"/>
          <p:cNvGraphicFramePr/>
          <p:nvPr/>
        </p:nvGraphicFramePr>
        <p:xfrm>
          <a:off x="477379" y="5062332"/>
          <a:ext cx="3771900" cy="4400550"/>
        </p:xfrm>
        <a:graphic>
          <a:graphicData uri="http://schemas.openxmlformats.org/presentationml/2006/ole">
            <p:oleObj imgW="46482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4" id="24"/>
          <p:cNvGraphicFramePr/>
          <p:nvPr/>
        </p:nvGraphicFramePr>
        <p:xfrm>
          <a:off x="477379" y="2526792"/>
          <a:ext cx="3771900" cy="3143250"/>
        </p:xfrm>
        <a:graphic>
          <a:graphicData uri="http://schemas.openxmlformats.org/presentationml/2006/ole">
            <p:oleObj imgW="4521200" imgH="3886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5" id="25"/>
          <p:cNvSpPr/>
          <p:nvPr/>
        </p:nvSpPr>
        <p:spPr>
          <a:xfrm flipH="false" flipV="false" rot="0">
            <a:off x="10807981" y="960120"/>
            <a:ext cx="5975179" cy="8962769"/>
          </a:xfrm>
          <a:custGeom>
            <a:avLst/>
            <a:gdLst/>
            <a:ahLst/>
            <a:cxnLst/>
            <a:rect r="r" b="b" t="t" l="l"/>
            <a:pathLst>
              <a:path h="8962769" w="5975179">
                <a:moveTo>
                  <a:pt x="0" y="0"/>
                </a:moveTo>
                <a:lnTo>
                  <a:pt x="5975179" y="0"/>
                </a:lnTo>
                <a:lnTo>
                  <a:pt x="5975179" y="8962769"/>
                </a:lnTo>
                <a:lnTo>
                  <a:pt x="0" y="89627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ALCANCE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sz="17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Alcance, Supuestos y Restricciones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043035" y="3007995"/>
            <a:ext cx="128778" cy="6465570"/>
            <a:chOff x="0" y="0"/>
            <a:chExt cx="171704" cy="8620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aphicFrame>
        <p:nvGraphicFramePr>
          <p:cNvPr name="Object 23" id="23"/>
          <p:cNvGraphicFramePr/>
          <p:nvPr/>
        </p:nvGraphicFramePr>
        <p:xfrm>
          <a:off x="676275" y="3007995"/>
          <a:ext cx="1885950" cy="5657850"/>
        </p:xfrm>
        <a:graphic>
          <a:graphicData uri="http://schemas.openxmlformats.org/presentationml/2006/ole">
            <p:oleObj imgW="3009900" imgH="6781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4" id="24"/>
          <p:cNvGraphicFramePr/>
          <p:nvPr/>
        </p:nvGraphicFramePr>
        <p:xfrm>
          <a:off x="9672086" y="2032904"/>
          <a:ext cx="1885950" cy="3771900"/>
        </p:xfrm>
        <a:graphic>
          <a:graphicData uri="http://schemas.openxmlformats.org/presentationml/2006/ole">
            <p:oleObj imgW="26289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5" id="25"/>
          <p:cNvGraphicFramePr/>
          <p:nvPr/>
        </p:nvGraphicFramePr>
        <p:xfrm>
          <a:off x="9612145" y="5750455"/>
          <a:ext cx="3771900" cy="3143250"/>
        </p:xfrm>
        <a:graphic>
          <a:graphicData uri="http://schemas.openxmlformats.org/presentationml/2006/ole">
            <p:oleObj imgW="4521200" imgH="3886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METODOLOGÍA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de Desarrollo y Gestión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93763" y="2365494"/>
            <a:ext cx="128778" cy="6465570"/>
            <a:chOff x="0" y="0"/>
            <a:chExt cx="171704" cy="8620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aphicFrame>
        <p:nvGraphicFramePr>
          <p:cNvPr name="Object 23" id="23"/>
          <p:cNvGraphicFramePr/>
          <p:nvPr/>
        </p:nvGraphicFramePr>
        <p:xfrm>
          <a:off x="387142" y="2737699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4" id="24"/>
          <p:cNvSpPr/>
          <p:nvPr/>
        </p:nvSpPr>
        <p:spPr>
          <a:xfrm flipH="false" flipV="false" rot="0">
            <a:off x="9258300" y="1888067"/>
            <a:ext cx="8783251" cy="4929600"/>
          </a:xfrm>
          <a:custGeom>
            <a:avLst/>
            <a:gdLst/>
            <a:ahLst/>
            <a:cxnLst/>
            <a:rect r="r" b="b" t="t" l="l"/>
            <a:pathLst>
              <a:path h="4929600" w="8783251">
                <a:moveTo>
                  <a:pt x="0" y="0"/>
                </a:moveTo>
                <a:lnTo>
                  <a:pt x="8783251" y="0"/>
                </a:lnTo>
                <a:lnTo>
                  <a:pt x="8783251" y="4929600"/>
                </a:lnTo>
                <a:lnTo>
                  <a:pt x="0" y="49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aphicFrame>
        <p:nvGraphicFramePr>
          <p:cNvPr name="Object 25" id="25"/>
          <p:cNvGraphicFramePr/>
          <p:nvPr/>
        </p:nvGraphicFramePr>
        <p:xfrm>
          <a:off x="9595002" y="6994648"/>
          <a:ext cx="3771900" cy="3771900"/>
        </p:xfrm>
        <a:graphic>
          <a:graphicData uri="http://schemas.openxmlformats.org/presentationml/2006/ole">
            <p:oleObj imgW="4521200" imgH="4521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DISEÑO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Documentos y Diagramas de Diseño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304910" y="2312786"/>
            <a:ext cx="6312091" cy="5977922"/>
          </a:xfrm>
          <a:custGeom>
            <a:avLst/>
            <a:gdLst/>
            <a:ahLst/>
            <a:cxnLst/>
            <a:rect r="r" b="b" t="t" l="l"/>
            <a:pathLst>
              <a:path h="5977922" w="6312091">
                <a:moveTo>
                  <a:pt x="0" y="0"/>
                </a:moveTo>
                <a:lnTo>
                  <a:pt x="6312091" y="0"/>
                </a:lnTo>
                <a:lnTo>
                  <a:pt x="6312091" y="5977922"/>
                </a:lnTo>
                <a:lnTo>
                  <a:pt x="0" y="5977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97774" y="1251026"/>
            <a:ext cx="4452635" cy="7039740"/>
          </a:xfrm>
          <a:custGeom>
            <a:avLst/>
            <a:gdLst/>
            <a:ahLst/>
            <a:cxnLst/>
            <a:rect r="r" b="b" t="t" l="l"/>
            <a:pathLst>
              <a:path h="7039740" w="4452635">
                <a:moveTo>
                  <a:pt x="0" y="0"/>
                </a:moveTo>
                <a:lnTo>
                  <a:pt x="4452636" y="0"/>
                </a:lnTo>
                <a:lnTo>
                  <a:pt x="4452636" y="7039740"/>
                </a:lnTo>
                <a:lnTo>
                  <a:pt x="0" y="7039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896465" y="8534598"/>
            <a:ext cx="4132528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1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Árbol de Problema Causas y efectos del 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 central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29500" y="8534598"/>
            <a:ext cx="3989184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2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Flujo AS-IS Proceso manual actual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 puntos de dolor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DISEÑO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Documentos y Diagramas de Diseño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215608" y="2081769"/>
            <a:ext cx="10968868" cy="7312579"/>
          </a:xfrm>
          <a:custGeom>
            <a:avLst/>
            <a:gdLst/>
            <a:ahLst/>
            <a:cxnLst/>
            <a:rect r="r" b="b" t="t" l="l"/>
            <a:pathLst>
              <a:path h="7312579" w="10968868">
                <a:moveTo>
                  <a:pt x="0" y="0"/>
                </a:moveTo>
                <a:lnTo>
                  <a:pt x="10968868" y="0"/>
                </a:lnTo>
                <a:lnTo>
                  <a:pt x="10968868" y="7312579"/>
                </a:lnTo>
                <a:lnTo>
                  <a:pt x="0" y="7312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4899759"/>
            <a:ext cx="2716790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4 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TO-BE Bloques del sistema y comunicación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DISEÑO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Documentos y Diagramas de Diseño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556015" y="2231517"/>
            <a:ext cx="12588985" cy="6984978"/>
          </a:xfrm>
          <a:custGeom>
            <a:avLst/>
            <a:gdLst/>
            <a:ahLst/>
            <a:cxnLst/>
            <a:rect r="r" b="b" t="t" l="l"/>
            <a:pathLst>
              <a:path h="6984978" w="12588985">
                <a:moveTo>
                  <a:pt x="0" y="0"/>
                </a:moveTo>
                <a:lnTo>
                  <a:pt x="12588985" y="0"/>
                </a:lnTo>
                <a:lnTo>
                  <a:pt x="12588985" y="6984978"/>
                </a:lnTo>
                <a:lnTo>
                  <a:pt x="0" y="6984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91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15498" y="4782924"/>
            <a:ext cx="3749277" cy="93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5: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Modelo ER 6 tablas · FK activas Aislamiento multi-tenant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DISEÑO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72357" y="240030"/>
            <a:ext cx="9266977" cy="1165860"/>
            <a:chOff x="0" y="0"/>
            <a:chExt cx="1235597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5596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2355969">
                  <a:moveTo>
                    <a:pt x="0" y="0"/>
                  </a:moveTo>
                  <a:lnTo>
                    <a:pt x="12355969" y="0"/>
                  </a:lnTo>
                  <a:lnTo>
                    <a:pt x="1235596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-82051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235597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Documentos y Diagramas de Diseño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092210" y="1588110"/>
            <a:ext cx="6052790" cy="8150250"/>
          </a:xfrm>
          <a:custGeom>
            <a:avLst/>
            <a:gdLst/>
            <a:ahLst/>
            <a:cxnLst/>
            <a:rect r="r" b="b" t="t" l="l"/>
            <a:pathLst>
              <a:path h="8150250" w="6052790">
                <a:moveTo>
                  <a:pt x="0" y="0"/>
                </a:moveTo>
                <a:lnTo>
                  <a:pt x="6052790" y="0"/>
                </a:lnTo>
                <a:lnTo>
                  <a:pt x="6052790" y="8150250"/>
                </a:lnTo>
                <a:lnTo>
                  <a:pt x="0" y="8150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46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80420" y="1405890"/>
            <a:ext cx="5351740" cy="8150250"/>
          </a:xfrm>
          <a:custGeom>
            <a:avLst/>
            <a:gdLst/>
            <a:ahLst/>
            <a:cxnLst/>
            <a:rect r="r" b="b" t="t" l="l"/>
            <a:pathLst>
              <a:path h="8150250" w="5351740">
                <a:moveTo>
                  <a:pt x="0" y="0"/>
                </a:moveTo>
                <a:lnTo>
                  <a:pt x="5351739" y="0"/>
                </a:lnTo>
                <a:lnTo>
                  <a:pt x="5351739" y="8150250"/>
                </a:lnTo>
                <a:lnTo>
                  <a:pt x="0" y="8150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" t="0" r="-2692" b="-126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232159" y="1785964"/>
            <a:ext cx="3101824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6: Casos de Uso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3 actores · 12 casos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SUPER_ADMIN / ADMIN / USER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800" y="1785964"/>
            <a:ext cx="3005411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7: Flujo TO-BE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Proceso nuevo con AgenteX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 pregunta a respuesta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ARQUITECTURA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 de Software y Patrones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Object 20" id="20"/>
          <p:cNvGraphicFramePr/>
          <p:nvPr/>
        </p:nvGraphicFramePr>
        <p:xfrm>
          <a:off x="788260" y="3879655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1" id="21"/>
          <p:cNvGraphicFramePr/>
          <p:nvPr/>
        </p:nvGraphicFramePr>
        <p:xfrm>
          <a:off x="10411209" y="3879655"/>
          <a:ext cx="3771900" cy="3771900"/>
        </p:xfrm>
        <a:graphic>
          <a:graphicData uri="http://schemas.openxmlformats.org/presentationml/2006/ole">
            <p:oleObj imgW="4521200" imgH="4521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1371667" y="2636344"/>
            <a:ext cx="7319002" cy="118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Mic</a:t>
            </a:r>
            <a:r>
              <a:rPr lang="en-US" b="true" sz="25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roservicios con separación de responsabilidades en 3 capas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37478" y="2859764"/>
            <a:ext cx="7319002" cy="51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Patrones implementados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28663" y="105417"/>
            <a:ext cx="7590028" cy="1068246"/>
            <a:chOff x="0" y="0"/>
            <a:chExt cx="11044789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4478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1044789">
                  <a:moveTo>
                    <a:pt x="0" y="0"/>
                  </a:moveTo>
                  <a:lnTo>
                    <a:pt x="11044789" y="0"/>
                  </a:lnTo>
                  <a:lnTo>
                    <a:pt x="1104478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-103663" b="-23195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1044789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sz="37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</a:t>
              </a:r>
              <a:r>
                <a:rPr lang="en-US" sz="37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ctura de Software y Patrones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29138" y="1405890"/>
            <a:ext cx="6794539" cy="7347039"/>
          </a:xfrm>
          <a:custGeom>
            <a:avLst/>
            <a:gdLst/>
            <a:ahLst/>
            <a:cxnLst/>
            <a:rect r="r" b="b" t="t" l="l"/>
            <a:pathLst>
              <a:path h="7347039" w="6794539">
                <a:moveTo>
                  <a:pt x="0" y="0"/>
                </a:moveTo>
                <a:lnTo>
                  <a:pt x="6794539" y="0"/>
                </a:lnTo>
                <a:lnTo>
                  <a:pt x="6794539" y="7347039"/>
                </a:lnTo>
                <a:lnTo>
                  <a:pt x="0" y="734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674" r="0" b="-2613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85938" y="1381949"/>
            <a:ext cx="6488523" cy="7523102"/>
          </a:xfrm>
          <a:custGeom>
            <a:avLst/>
            <a:gdLst/>
            <a:ahLst/>
            <a:cxnLst/>
            <a:rect r="r" b="b" t="t" l="l"/>
            <a:pathLst>
              <a:path h="7523102" w="6488523">
                <a:moveTo>
                  <a:pt x="0" y="0"/>
                </a:moveTo>
                <a:lnTo>
                  <a:pt x="6488524" y="0"/>
                </a:lnTo>
                <a:lnTo>
                  <a:pt x="6488524" y="7523102"/>
                </a:lnTo>
                <a:lnTo>
                  <a:pt x="0" y="75231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82" r="0" b="-1352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77157" y="9063004"/>
            <a:ext cx="4981443" cy="34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Diagramas C4 Nivel 1 y Nivel 2 → Figuras 10 y 11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5800" y="411480"/>
            <a:ext cx="10972800" cy="456119"/>
            <a:chOff x="0" y="0"/>
            <a:chExt cx="14630400" cy="6081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608159"/>
            </a:xfrm>
            <a:custGeom>
              <a:avLst/>
              <a:gdLst/>
              <a:ahLst/>
              <a:cxnLst/>
              <a:rect r="r" b="b" t="t" l="l"/>
              <a:pathLst>
                <a:path h="608159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8159"/>
                  </a:lnTo>
                  <a:lnTo>
                    <a:pt x="0" y="6081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642" r="0" b="-4138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30400" cy="646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ARQUITECTURA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 Definitivo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05063" y="2630805"/>
            <a:ext cx="128778" cy="6054090"/>
            <a:chOff x="0" y="0"/>
            <a:chExt cx="171704" cy="8072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046720"/>
            </a:xfrm>
            <a:custGeom>
              <a:avLst/>
              <a:gdLst/>
              <a:ahLst/>
              <a:cxnLst/>
              <a:rect r="r" b="b" t="t" l="l"/>
              <a:pathLst>
                <a:path h="80467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072120"/>
            </a:xfrm>
            <a:custGeom>
              <a:avLst/>
              <a:gdLst/>
              <a:ahLst/>
              <a:cxnLst/>
              <a:rect r="r" b="b" t="t" l="l"/>
              <a:pathLst>
                <a:path h="80721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059420"/>
                  </a:lnTo>
                  <a:cubicBezTo>
                    <a:pt x="171704" y="8066405"/>
                    <a:pt x="165989" y="8072120"/>
                    <a:pt x="159004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59004" y="8046720"/>
                  </a:lnTo>
                  <a:lnTo>
                    <a:pt x="159004" y="8059420"/>
                  </a:lnTo>
                  <a:lnTo>
                    <a:pt x="146304" y="80594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9189720"/>
            <a:ext cx="16870680" cy="480060"/>
            <a:chOff x="0" y="0"/>
            <a:chExt cx="2249424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2494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 clave:  </a:t>
              </a:r>
              <a:r>
                <a:rPr lang="en-US" sz="1575" i="true">
                  <a:solidFill>
                    <a:srgbClr val="5C5F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Tiempo sugerido: 2 min. Mostrar el repositorio abierto en pantalla durante la exposición.</a:t>
              </a:r>
            </a:p>
          </p:txBody>
        </p:sp>
      </p:grpSp>
      <p:graphicFrame>
        <p:nvGraphicFramePr>
          <p:cNvPr name="Object 26" id="26"/>
          <p:cNvGraphicFramePr/>
          <p:nvPr/>
        </p:nvGraphicFramePr>
        <p:xfrm>
          <a:off x="582831" y="3283267"/>
          <a:ext cx="3771900" cy="5657850"/>
        </p:xfrm>
        <a:graphic>
          <a:graphicData uri="http://schemas.openxmlformats.org/presentationml/2006/ole">
            <p:oleObj imgW="4902200" imgH="6781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7" id="27"/>
          <p:cNvGraphicFramePr/>
          <p:nvPr/>
        </p:nvGraphicFramePr>
        <p:xfrm>
          <a:off x="9867840" y="3283267"/>
          <a:ext cx="3771900" cy="5657850"/>
        </p:xfrm>
        <a:graphic>
          <a:graphicData uri="http://schemas.openxmlformats.org/presentationml/2006/ole">
            <p:oleObj imgW="4902200" imgH="6781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8" id="28"/>
          <p:cNvSpPr txBox="true"/>
          <p:nvPr/>
        </p:nvSpPr>
        <p:spPr>
          <a:xfrm rot="0">
            <a:off x="3488760" y="2237992"/>
            <a:ext cx="2286561" cy="8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  <a:spcBef>
                <a:spcPct val="0"/>
              </a:spcBef>
            </a:pPr>
            <a:r>
              <a:rPr lang="en-US" sz="485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12579" y="2265074"/>
            <a:ext cx="2083530" cy="8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1"/>
              </a:lnSpc>
              <a:spcBef>
                <a:spcPct val="0"/>
              </a:spcBef>
            </a:pPr>
            <a:r>
              <a:rPr lang="en-US" sz="4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 Definitivo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0" y="2630805"/>
            <a:ext cx="128778" cy="6054090"/>
            <a:chOff x="0" y="0"/>
            <a:chExt cx="171704" cy="8072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046720"/>
            </a:xfrm>
            <a:custGeom>
              <a:avLst/>
              <a:gdLst/>
              <a:ahLst/>
              <a:cxnLst/>
              <a:rect r="r" b="b" t="t" l="l"/>
              <a:pathLst>
                <a:path h="80467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072120"/>
            </a:xfrm>
            <a:custGeom>
              <a:avLst/>
              <a:gdLst/>
              <a:ahLst/>
              <a:cxnLst/>
              <a:rect r="r" b="b" t="t" l="l"/>
              <a:pathLst>
                <a:path h="80721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059420"/>
                  </a:lnTo>
                  <a:cubicBezTo>
                    <a:pt x="171704" y="8066405"/>
                    <a:pt x="165989" y="8072120"/>
                    <a:pt x="159004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59004" y="8046720"/>
                  </a:lnTo>
                  <a:lnTo>
                    <a:pt x="159004" y="8059420"/>
                  </a:lnTo>
                  <a:lnTo>
                    <a:pt x="146304" y="80594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" y="9189720"/>
            <a:ext cx="16870680" cy="480060"/>
            <a:chOff x="0" y="0"/>
            <a:chExt cx="2249424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2494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 clave:  </a:t>
              </a:r>
              <a:r>
                <a:rPr lang="en-US" sz="1575" i="true">
                  <a:solidFill>
                    <a:srgbClr val="5C5F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Tiempo sugerido: 2 min. Mostrar el repositorio abierto en pantalla durante la exposición.</a:t>
              </a:r>
            </a:p>
          </p:txBody>
        </p:sp>
      </p:grpSp>
      <p:graphicFrame>
        <p:nvGraphicFramePr>
          <p:cNvPr name="Object 26" id="26"/>
          <p:cNvGraphicFramePr/>
          <p:nvPr/>
        </p:nvGraphicFramePr>
        <p:xfrm>
          <a:off x="854097" y="3283267"/>
          <a:ext cx="3771900" cy="4400550"/>
        </p:xfrm>
        <a:graphic>
          <a:graphicData uri="http://schemas.openxmlformats.org/presentationml/2006/ole">
            <p:oleObj imgW="46482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7" id="27"/>
          <p:cNvGraphicFramePr/>
          <p:nvPr/>
        </p:nvGraphicFramePr>
        <p:xfrm>
          <a:off x="9898049" y="3283267"/>
          <a:ext cx="3771900" cy="3143250"/>
        </p:xfrm>
        <a:graphic>
          <a:graphicData uri="http://schemas.openxmlformats.org/presentationml/2006/ole">
            <p:oleObj imgW="4521200" imgH="3886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8" id="28"/>
          <p:cNvSpPr txBox="true"/>
          <p:nvPr/>
        </p:nvSpPr>
        <p:spPr>
          <a:xfrm rot="0">
            <a:off x="2944230" y="2237992"/>
            <a:ext cx="3375621" cy="82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  <a:spcBef>
                <a:spcPct val="0"/>
              </a:spcBef>
            </a:pPr>
            <a:r>
              <a:rPr lang="en-US" sz="485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Microservicio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64722" y="2187239"/>
            <a:ext cx="6134610" cy="80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1"/>
              </a:lnSpc>
              <a:spcBef>
                <a:spcPct val="0"/>
              </a:spcBef>
            </a:pPr>
            <a:r>
              <a:rPr lang="en-US" sz="4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Está</a:t>
            </a:r>
            <a:r>
              <a:rPr lang="en-US" sz="4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ndares y repositorio: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·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Tecnológico Definitivo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0" y="2630805"/>
            <a:ext cx="128778" cy="6054090"/>
            <a:chOff x="0" y="0"/>
            <a:chExt cx="171704" cy="8072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046720"/>
            </a:xfrm>
            <a:custGeom>
              <a:avLst/>
              <a:gdLst/>
              <a:ahLst/>
              <a:cxnLst/>
              <a:rect r="r" b="b" t="t" l="l"/>
              <a:pathLst>
                <a:path h="80467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072120"/>
            </a:xfrm>
            <a:custGeom>
              <a:avLst/>
              <a:gdLst/>
              <a:ahLst/>
              <a:cxnLst/>
              <a:rect r="r" b="b" t="t" l="l"/>
              <a:pathLst>
                <a:path h="80721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059420"/>
                  </a:lnTo>
                  <a:cubicBezTo>
                    <a:pt x="171704" y="8066405"/>
                    <a:pt x="165989" y="8072120"/>
                    <a:pt x="159004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59004" y="8046720"/>
                  </a:lnTo>
                  <a:lnTo>
                    <a:pt x="159004" y="8059420"/>
                  </a:lnTo>
                  <a:lnTo>
                    <a:pt x="146304" y="80594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628694" y="2529939"/>
            <a:ext cx="4229306" cy="6553676"/>
          </a:xfrm>
          <a:custGeom>
            <a:avLst/>
            <a:gdLst/>
            <a:ahLst/>
            <a:cxnLst/>
            <a:rect r="r" b="b" t="t" l="l"/>
            <a:pathLst>
              <a:path h="6553676" w="4229306">
                <a:moveTo>
                  <a:pt x="0" y="0"/>
                </a:moveTo>
                <a:lnTo>
                  <a:pt x="4229306" y="0"/>
                </a:lnTo>
                <a:lnTo>
                  <a:pt x="4229306" y="6553676"/>
                </a:lnTo>
                <a:lnTo>
                  <a:pt x="0" y="6553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98816" y="2043579"/>
            <a:ext cx="4085728" cy="7214721"/>
          </a:xfrm>
          <a:custGeom>
            <a:avLst/>
            <a:gdLst/>
            <a:ahLst/>
            <a:cxnLst/>
            <a:rect r="r" b="b" t="t" l="l"/>
            <a:pathLst>
              <a:path h="7214721" w="4085728">
                <a:moveTo>
                  <a:pt x="0" y="0"/>
                </a:moveTo>
                <a:lnTo>
                  <a:pt x="4085728" y="0"/>
                </a:lnTo>
                <a:lnTo>
                  <a:pt x="4085728" y="7214721"/>
                </a:lnTo>
                <a:lnTo>
                  <a:pt x="0" y="72147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9975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PRODUCCIÓN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Configuración de Servidor de Producción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Object 20" id="20"/>
          <p:cNvGraphicFramePr/>
          <p:nvPr/>
        </p:nvGraphicFramePr>
        <p:xfrm>
          <a:off x="1140998" y="3502330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10149840" y="1966725"/>
            <a:ext cx="7179441" cy="6861173"/>
          </a:xfrm>
          <a:custGeom>
            <a:avLst/>
            <a:gdLst/>
            <a:ahLst/>
            <a:cxnLst/>
            <a:rect r="r" b="b" t="t" l="l"/>
            <a:pathLst>
              <a:path h="6861173" w="7179441">
                <a:moveTo>
                  <a:pt x="0" y="0"/>
                </a:moveTo>
                <a:lnTo>
                  <a:pt x="7179441" y="0"/>
                </a:lnTo>
                <a:lnTo>
                  <a:pt x="7179441" y="6861173"/>
                </a:lnTo>
                <a:lnTo>
                  <a:pt x="0" y="6861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7899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523131" y="2803119"/>
            <a:ext cx="351201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— Base de Datos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PRODUCCIÓN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Configuración de Servidor de Producción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Object 20" id="20"/>
          <p:cNvGraphicFramePr/>
          <p:nvPr/>
        </p:nvGraphicFramePr>
        <p:xfrm>
          <a:off x="1496838" y="3662276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10552221" y="1420125"/>
            <a:ext cx="7013784" cy="7975427"/>
          </a:xfrm>
          <a:custGeom>
            <a:avLst/>
            <a:gdLst/>
            <a:ahLst/>
            <a:cxnLst/>
            <a:rect r="r" b="b" t="t" l="l"/>
            <a:pathLst>
              <a:path h="7975427" w="7013784">
                <a:moveTo>
                  <a:pt x="0" y="0"/>
                </a:moveTo>
                <a:lnTo>
                  <a:pt x="7013784" y="0"/>
                </a:lnTo>
                <a:lnTo>
                  <a:pt x="7013784" y="7975428"/>
                </a:lnTo>
                <a:lnTo>
                  <a:pt x="0" y="7975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95" r="0" b="-2130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179752" y="2803119"/>
            <a:ext cx="41987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</a:t>
            </a: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ender — Microservicio Python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PRODUCCIÓN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Configuración de Servidor de Producción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Object 20" id="20"/>
          <p:cNvGraphicFramePr/>
          <p:nvPr/>
        </p:nvGraphicFramePr>
        <p:xfrm>
          <a:off x="1106638" y="3581965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10592213" y="1093595"/>
            <a:ext cx="6895687" cy="8644765"/>
          </a:xfrm>
          <a:custGeom>
            <a:avLst/>
            <a:gdLst/>
            <a:ahLst/>
            <a:cxnLst/>
            <a:rect r="r" b="b" t="t" l="l"/>
            <a:pathLst>
              <a:path h="8644765" w="6895687">
                <a:moveTo>
                  <a:pt x="0" y="0"/>
                </a:moveTo>
                <a:lnTo>
                  <a:pt x="6895687" y="0"/>
                </a:lnTo>
                <a:lnTo>
                  <a:pt x="6895687" y="8644765"/>
                </a:lnTo>
                <a:lnTo>
                  <a:pt x="0" y="86447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01" r="0" b="-604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516186" y="2803119"/>
            <a:ext cx="35259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ender — Backend Node.js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· PRODUCCIÓN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Configuración de Servidor de Producción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Object 20" id="20"/>
          <p:cNvGraphicFramePr/>
          <p:nvPr/>
        </p:nvGraphicFramePr>
        <p:xfrm>
          <a:off x="1406098" y="3517190"/>
          <a:ext cx="3771900" cy="4400550"/>
        </p:xfrm>
        <a:graphic>
          <a:graphicData uri="http://schemas.openxmlformats.org/presentationml/2006/ole">
            <p:oleObj imgW="46482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21" id="21"/>
          <p:cNvSpPr/>
          <p:nvPr/>
        </p:nvSpPr>
        <p:spPr>
          <a:xfrm flipH="false" flipV="false" rot="0">
            <a:off x="9988606" y="1697356"/>
            <a:ext cx="7567874" cy="7560944"/>
          </a:xfrm>
          <a:custGeom>
            <a:avLst/>
            <a:gdLst/>
            <a:ahLst/>
            <a:cxnLst/>
            <a:rect r="r" b="b" t="t" l="l"/>
            <a:pathLst>
              <a:path h="7560944" w="7567874">
                <a:moveTo>
                  <a:pt x="0" y="0"/>
                </a:moveTo>
                <a:lnTo>
                  <a:pt x="7567874" y="0"/>
                </a:lnTo>
                <a:lnTo>
                  <a:pt x="7567874" y="7560944"/>
                </a:lnTo>
                <a:lnTo>
                  <a:pt x="0" y="7560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538" r="0" b="-31933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066602" y="2803119"/>
            <a:ext cx="24250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</a:t>
            </a:r>
            <a:r>
              <a:rPr lang="en-US" sz="25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ercel — Frontend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· ACCESO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URL de Producción y Acceso a la App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6275" y="3007995"/>
            <a:ext cx="16889730" cy="2076450"/>
            <a:chOff x="0" y="0"/>
            <a:chExt cx="22519640" cy="276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2249423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F133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19639" cy="2768600"/>
            </a:xfrm>
            <a:custGeom>
              <a:avLst/>
              <a:gdLst/>
              <a:ahLst/>
              <a:cxnLst/>
              <a:rect r="r" b="b" t="t" l="l"/>
              <a:pathLst>
                <a:path h="2768600" w="22519639">
                  <a:moveTo>
                    <a:pt x="12700" y="0"/>
                  </a:moveTo>
                  <a:lnTo>
                    <a:pt x="22506939" y="0"/>
                  </a:lnTo>
                  <a:cubicBezTo>
                    <a:pt x="22513925" y="0"/>
                    <a:pt x="22519639" y="5715"/>
                    <a:pt x="22519639" y="12700"/>
                  </a:cubicBezTo>
                  <a:lnTo>
                    <a:pt x="22519639" y="2755900"/>
                  </a:lnTo>
                  <a:cubicBezTo>
                    <a:pt x="22519639" y="2762885"/>
                    <a:pt x="22513925" y="2768600"/>
                    <a:pt x="22506939" y="2768600"/>
                  </a:cubicBezTo>
                  <a:lnTo>
                    <a:pt x="12700" y="2768600"/>
                  </a:lnTo>
                  <a:cubicBezTo>
                    <a:pt x="5715" y="2768600"/>
                    <a:pt x="0" y="2762885"/>
                    <a:pt x="0" y="2755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55900"/>
                  </a:lnTo>
                  <a:lnTo>
                    <a:pt x="12700" y="2755900"/>
                  </a:lnTo>
                  <a:lnTo>
                    <a:pt x="12700" y="2743200"/>
                  </a:lnTo>
                  <a:lnTo>
                    <a:pt x="22506939" y="2743200"/>
                  </a:lnTo>
                  <a:lnTo>
                    <a:pt x="22506939" y="2755900"/>
                  </a:lnTo>
                  <a:lnTo>
                    <a:pt x="22494239" y="2755900"/>
                  </a:lnTo>
                  <a:lnTo>
                    <a:pt x="22494239" y="12700"/>
                  </a:lnTo>
                  <a:lnTo>
                    <a:pt x="22506939" y="12700"/>
                  </a:lnTo>
                  <a:lnTo>
                    <a:pt x="225069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F13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275" y="3007995"/>
            <a:ext cx="224790" cy="2076450"/>
            <a:chOff x="0" y="0"/>
            <a:chExt cx="29972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274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9720" cy="2768600"/>
            </a:xfrm>
            <a:custGeom>
              <a:avLst/>
              <a:gdLst/>
              <a:ahLst/>
              <a:cxnLst/>
              <a:rect r="r" b="b" t="t" l="l"/>
              <a:pathLst>
                <a:path h="2768600" w="299720">
                  <a:moveTo>
                    <a:pt x="12700" y="0"/>
                  </a:moveTo>
                  <a:lnTo>
                    <a:pt x="287020" y="0"/>
                  </a:lnTo>
                  <a:cubicBezTo>
                    <a:pt x="294005" y="0"/>
                    <a:pt x="299720" y="5715"/>
                    <a:pt x="299720" y="12700"/>
                  </a:cubicBezTo>
                  <a:lnTo>
                    <a:pt x="299720" y="2755900"/>
                  </a:lnTo>
                  <a:cubicBezTo>
                    <a:pt x="299720" y="2762885"/>
                    <a:pt x="294005" y="2768600"/>
                    <a:pt x="287020" y="2768600"/>
                  </a:cubicBezTo>
                  <a:lnTo>
                    <a:pt x="12700" y="2768600"/>
                  </a:lnTo>
                  <a:cubicBezTo>
                    <a:pt x="5715" y="2768600"/>
                    <a:pt x="0" y="2762885"/>
                    <a:pt x="0" y="2755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55900"/>
                  </a:lnTo>
                  <a:lnTo>
                    <a:pt x="12700" y="2755900"/>
                  </a:lnTo>
                  <a:lnTo>
                    <a:pt x="12700" y="2743200"/>
                  </a:lnTo>
                  <a:lnTo>
                    <a:pt x="287020" y="2743200"/>
                  </a:lnTo>
                  <a:lnTo>
                    <a:pt x="287020" y="2755900"/>
                  </a:lnTo>
                  <a:lnTo>
                    <a:pt x="274320" y="2755900"/>
                  </a:lnTo>
                  <a:lnTo>
                    <a:pt x="274320" y="12700"/>
                  </a:lnTo>
                  <a:lnTo>
                    <a:pt x="287020" y="12700"/>
                  </a:lnTo>
                  <a:lnTo>
                    <a:pt x="2870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3223260"/>
            <a:ext cx="15773400" cy="548640"/>
            <a:chOff x="0" y="0"/>
            <a:chExt cx="21031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031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750">
                  <a:solidFill>
                    <a:srgbClr val="F5B5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EN PRODUCCIÓN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4440" y="3771900"/>
            <a:ext cx="15773400" cy="960120"/>
            <a:chOff x="0" y="0"/>
            <a:chExt cx="21031200" cy="12801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2103120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https://front-agente-x.vercel.app/app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6275" y="5476875"/>
            <a:ext cx="5505450" cy="3712845"/>
            <a:chOff x="0" y="0"/>
            <a:chExt cx="7340600" cy="4950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4857"/>
              <a:ext cx="7315200" cy="4920746"/>
            </a:xfrm>
            <a:custGeom>
              <a:avLst/>
              <a:gdLst/>
              <a:ahLst/>
              <a:cxnLst/>
              <a:rect r="r" b="b" t="t" l="l"/>
              <a:pathLst>
                <a:path h="492074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920746"/>
                  </a:lnTo>
                  <a:lnTo>
                    <a:pt x="0" y="4920746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06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6686"/>
                    <a:pt x="7340600" y="14857"/>
                  </a:cubicBezTo>
                  <a:lnTo>
                    <a:pt x="7340600" y="4935603"/>
                  </a:lnTo>
                  <a:cubicBezTo>
                    <a:pt x="7340600" y="4943774"/>
                    <a:pt x="7334885" y="4950460"/>
                    <a:pt x="7327900" y="4950460"/>
                  </a:cubicBezTo>
                  <a:lnTo>
                    <a:pt x="12700" y="4950460"/>
                  </a:lnTo>
                  <a:cubicBezTo>
                    <a:pt x="5715" y="4950460"/>
                    <a:pt x="0" y="4943774"/>
                    <a:pt x="0" y="4935603"/>
                  </a:cubicBezTo>
                  <a:lnTo>
                    <a:pt x="0" y="14857"/>
                  </a:lnTo>
                  <a:cubicBezTo>
                    <a:pt x="0" y="6686"/>
                    <a:pt x="5715" y="0"/>
                    <a:pt x="12700" y="0"/>
                  </a:cubicBezTo>
                  <a:moveTo>
                    <a:pt x="12700" y="29715"/>
                  </a:moveTo>
                  <a:lnTo>
                    <a:pt x="12700" y="14857"/>
                  </a:lnTo>
                  <a:lnTo>
                    <a:pt x="25400" y="14857"/>
                  </a:lnTo>
                  <a:lnTo>
                    <a:pt x="25400" y="4935603"/>
                  </a:lnTo>
                  <a:lnTo>
                    <a:pt x="12700" y="4935603"/>
                  </a:lnTo>
                  <a:lnTo>
                    <a:pt x="12700" y="4920745"/>
                  </a:lnTo>
                  <a:lnTo>
                    <a:pt x="7327900" y="4920745"/>
                  </a:lnTo>
                  <a:lnTo>
                    <a:pt x="7327900" y="4935603"/>
                  </a:lnTo>
                  <a:lnTo>
                    <a:pt x="7315200" y="4935603"/>
                  </a:lnTo>
                  <a:lnTo>
                    <a:pt x="7315200" y="14857"/>
                  </a:lnTo>
                  <a:lnTo>
                    <a:pt x="7327900" y="14857"/>
                  </a:lnTo>
                  <a:lnTo>
                    <a:pt x="7327900" y="29715"/>
                  </a:lnTo>
                  <a:lnTo>
                    <a:pt x="12700" y="29715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76275" y="5476875"/>
            <a:ext cx="5505450" cy="636270"/>
            <a:chOff x="0" y="0"/>
            <a:chExt cx="7340600" cy="848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7315200" cy="822960"/>
            </a:xfrm>
            <a:custGeom>
              <a:avLst/>
              <a:gdLst/>
              <a:ahLst/>
              <a:cxnLst/>
              <a:rect r="r" b="b" t="t" l="l"/>
              <a:pathLst>
                <a:path h="822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0600" cy="848360"/>
            </a:xfrm>
            <a:custGeom>
              <a:avLst/>
              <a:gdLst/>
              <a:ahLst/>
              <a:cxnLst/>
              <a:rect r="r" b="b" t="t" l="l"/>
              <a:pathLst>
                <a:path h="8483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835660"/>
                  </a:lnTo>
                  <a:cubicBezTo>
                    <a:pt x="7340600" y="842645"/>
                    <a:pt x="7334885" y="848360"/>
                    <a:pt x="732790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7327900" y="822960"/>
                  </a:lnTo>
                  <a:lnTo>
                    <a:pt x="7327900" y="835660"/>
                  </a:lnTo>
                  <a:lnTo>
                    <a:pt x="7315200" y="8356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" y="5554980"/>
            <a:ext cx="4937760" cy="480060"/>
            <a:chOff x="0" y="0"/>
            <a:chExt cx="658368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Credenciales de prueba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" y="6271260"/>
            <a:ext cx="4937760" cy="8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Usuario:  mauriciolillo122@gmail.com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Contraseña:  123456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Rol:  Super Admin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368415" y="5476875"/>
            <a:ext cx="5505450" cy="3712845"/>
            <a:chOff x="0" y="0"/>
            <a:chExt cx="7340600" cy="4950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4857"/>
              <a:ext cx="7315200" cy="4920746"/>
            </a:xfrm>
            <a:custGeom>
              <a:avLst/>
              <a:gdLst/>
              <a:ahLst/>
              <a:cxnLst/>
              <a:rect r="r" b="b" t="t" l="l"/>
              <a:pathLst>
                <a:path h="492074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920746"/>
                  </a:lnTo>
                  <a:lnTo>
                    <a:pt x="0" y="4920746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406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6686"/>
                    <a:pt x="7340600" y="14857"/>
                  </a:cubicBezTo>
                  <a:lnTo>
                    <a:pt x="7340600" y="4935603"/>
                  </a:lnTo>
                  <a:cubicBezTo>
                    <a:pt x="7340600" y="4943774"/>
                    <a:pt x="7334885" y="4950460"/>
                    <a:pt x="7327900" y="4950460"/>
                  </a:cubicBezTo>
                  <a:lnTo>
                    <a:pt x="12700" y="4950460"/>
                  </a:lnTo>
                  <a:cubicBezTo>
                    <a:pt x="5715" y="4950460"/>
                    <a:pt x="0" y="4943774"/>
                    <a:pt x="0" y="4935603"/>
                  </a:cubicBezTo>
                  <a:lnTo>
                    <a:pt x="0" y="14857"/>
                  </a:lnTo>
                  <a:cubicBezTo>
                    <a:pt x="0" y="6686"/>
                    <a:pt x="5715" y="0"/>
                    <a:pt x="12700" y="0"/>
                  </a:cubicBezTo>
                  <a:moveTo>
                    <a:pt x="12700" y="29715"/>
                  </a:moveTo>
                  <a:lnTo>
                    <a:pt x="12700" y="14857"/>
                  </a:lnTo>
                  <a:lnTo>
                    <a:pt x="25400" y="14857"/>
                  </a:lnTo>
                  <a:lnTo>
                    <a:pt x="25400" y="4935603"/>
                  </a:lnTo>
                  <a:lnTo>
                    <a:pt x="12700" y="4935603"/>
                  </a:lnTo>
                  <a:lnTo>
                    <a:pt x="12700" y="4920745"/>
                  </a:lnTo>
                  <a:lnTo>
                    <a:pt x="7327900" y="4920745"/>
                  </a:lnTo>
                  <a:lnTo>
                    <a:pt x="7327900" y="4935603"/>
                  </a:lnTo>
                  <a:lnTo>
                    <a:pt x="7315200" y="4935603"/>
                  </a:lnTo>
                  <a:lnTo>
                    <a:pt x="7315200" y="14857"/>
                  </a:lnTo>
                  <a:lnTo>
                    <a:pt x="7327900" y="14857"/>
                  </a:lnTo>
                  <a:lnTo>
                    <a:pt x="7327900" y="29715"/>
                  </a:lnTo>
                  <a:lnTo>
                    <a:pt x="12700" y="29715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368415" y="5476875"/>
            <a:ext cx="5505450" cy="636270"/>
            <a:chOff x="0" y="0"/>
            <a:chExt cx="7340600" cy="848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7315200" cy="822960"/>
            </a:xfrm>
            <a:custGeom>
              <a:avLst/>
              <a:gdLst/>
              <a:ahLst/>
              <a:cxnLst/>
              <a:rect r="r" b="b" t="t" l="l"/>
              <a:pathLst>
                <a:path h="822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40600" cy="848360"/>
            </a:xfrm>
            <a:custGeom>
              <a:avLst/>
              <a:gdLst/>
              <a:ahLst/>
              <a:cxnLst/>
              <a:rect r="r" b="b" t="t" l="l"/>
              <a:pathLst>
                <a:path h="8483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835660"/>
                  </a:lnTo>
                  <a:cubicBezTo>
                    <a:pt x="7340600" y="842645"/>
                    <a:pt x="7334885" y="848360"/>
                    <a:pt x="732790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7327900" y="822960"/>
                  </a:lnTo>
                  <a:lnTo>
                    <a:pt x="7327900" y="835660"/>
                  </a:lnTo>
                  <a:lnTo>
                    <a:pt x="7315200" y="8356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652260" y="5554980"/>
            <a:ext cx="4937760" cy="480060"/>
            <a:chOff x="0" y="0"/>
            <a:chExt cx="65836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583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Repositorio de código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652260" y="6271260"/>
            <a:ext cx="4937760" cy="552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Acceso:  público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Rama desplegada:  main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060555" y="5476875"/>
            <a:ext cx="5505450" cy="3712845"/>
            <a:chOff x="0" y="0"/>
            <a:chExt cx="7340600" cy="4950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4857"/>
              <a:ext cx="7315200" cy="4920746"/>
            </a:xfrm>
            <a:custGeom>
              <a:avLst/>
              <a:gdLst/>
              <a:ahLst/>
              <a:cxnLst/>
              <a:rect r="r" b="b" t="t" l="l"/>
              <a:pathLst>
                <a:path h="492074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920746"/>
                  </a:lnTo>
                  <a:lnTo>
                    <a:pt x="0" y="4920746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406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6686"/>
                    <a:pt x="7340600" y="14857"/>
                  </a:cubicBezTo>
                  <a:lnTo>
                    <a:pt x="7340600" y="4935603"/>
                  </a:lnTo>
                  <a:cubicBezTo>
                    <a:pt x="7340600" y="4943774"/>
                    <a:pt x="7334885" y="4950460"/>
                    <a:pt x="7327900" y="4950460"/>
                  </a:cubicBezTo>
                  <a:lnTo>
                    <a:pt x="12700" y="4950460"/>
                  </a:lnTo>
                  <a:cubicBezTo>
                    <a:pt x="5715" y="4950460"/>
                    <a:pt x="0" y="4943774"/>
                    <a:pt x="0" y="4935603"/>
                  </a:cubicBezTo>
                  <a:lnTo>
                    <a:pt x="0" y="14857"/>
                  </a:lnTo>
                  <a:cubicBezTo>
                    <a:pt x="0" y="6686"/>
                    <a:pt x="5715" y="0"/>
                    <a:pt x="12700" y="0"/>
                  </a:cubicBezTo>
                  <a:moveTo>
                    <a:pt x="12700" y="29715"/>
                  </a:moveTo>
                  <a:lnTo>
                    <a:pt x="12700" y="14857"/>
                  </a:lnTo>
                  <a:lnTo>
                    <a:pt x="25400" y="14857"/>
                  </a:lnTo>
                  <a:lnTo>
                    <a:pt x="25400" y="4935603"/>
                  </a:lnTo>
                  <a:lnTo>
                    <a:pt x="12700" y="4935603"/>
                  </a:lnTo>
                  <a:lnTo>
                    <a:pt x="12700" y="4920745"/>
                  </a:lnTo>
                  <a:lnTo>
                    <a:pt x="7327900" y="4920745"/>
                  </a:lnTo>
                  <a:lnTo>
                    <a:pt x="7327900" y="4935603"/>
                  </a:lnTo>
                  <a:lnTo>
                    <a:pt x="7315200" y="4935603"/>
                  </a:lnTo>
                  <a:lnTo>
                    <a:pt x="7315200" y="14857"/>
                  </a:lnTo>
                  <a:lnTo>
                    <a:pt x="7327900" y="14857"/>
                  </a:lnTo>
                  <a:lnTo>
                    <a:pt x="7327900" y="29715"/>
                  </a:lnTo>
                  <a:lnTo>
                    <a:pt x="12700" y="29715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060555" y="5476875"/>
            <a:ext cx="5505450" cy="636270"/>
            <a:chOff x="0" y="0"/>
            <a:chExt cx="7340600" cy="848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7315200" cy="822960"/>
            </a:xfrm>
            <a:custGeom>
              <a:avLst/>
              <a:gdLst/>
              <a:ahLst/>
              <a:cxnLst/>
              <a:rect r="r" b="b" t="t" l="l"/>
              <a:pathLst>
                <a:path h="822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40600" cy="848360"/>
            </a:xfrm>
            <a:custGeom>
              <a:avLst/>
              <a:gdLst/>
              <a:ahLst/>
              <a:cxnLst/>
              <a:rect r="r" b="b" t="t" l="l"/>
              <a:pathLst>
                <a:path h="848360" w="7340600">
                  <a:moveTo>
                    <a:pt x="12700" y="0"/>
                  </a:moveTo>
                  <a:lnTo>
                    <a:pt x="7327900" y="0"/>
                  </a:lnTo>
                  <a:cubicBezTo>
                    <a:pt x="7334885" y="0"/>
                    <a:pt x="7340600" y="5715"/>
                    <a:pt x="7340600" y="12700"/>
                  </a:cubicBezTo>
                  <a:lnTo>
                    <a:pt x="7340600" y="835660"/>
                  </a:lnTo>
                  <a:cubicBezTo>
                    <a:pt x="7340600" y="842645"/>
                    <a:pt x="7334885" y="848360"/>
                    <a:pt x="7327900" y="848360"/>
                  </a:cubicBezTo>
                  <a:lnTo>
                    <a:pt x="12700" y="848360"/>
                  </a:lnTo>
                  <a:cubicBezTo>
                    <a:pt x="5715" y="848360"/>
                    <a:pt x="0" y="842645"/>
                    <a:pt x="0" y="835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35660"/>
                  </a:lnTo>
                  <a:lnTo>
                    <a:pt x="12700" y="835660"/>
                  </a:lnTo>
                  <a:lnTo>
                    <a:pt x="12700" y="822960"/>
                  </a:lnTo>
                  <a:lnTo>
                    <a:pt x="7327900" y="822960"/>
                  </a:lnTo>
                  <a:lnTo>
                    <a:pt x="7327900" y="835660"/>
                  </a:lnTo>
                  <a:lnTo>
                    <a:pt x="7315200" y="835660"/>
                  </a:lnTo>
                  <a:lnTo>
                    <a:pt x="7315200" y="12700"/>
                  </a:lnTo>
                  <a:lnTo>
                    <a:pt x="7327900" y="12700"/>
                  </a:lnTo>
                  <a:lnTo>
                    <a:pt x="73279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0" y="5554980"/>
            <a:ext cx="4937760" cy="480060"/>
            <a:chOff x="0" y="0"/>
            <a:chExt cx="658368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5836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Paneles cloud abiertos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2344400" y="6465570"/>
            <a:ext cx="4937760" cy="235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PANELES ABIERTOS</a:t>
            </a:r>
          </a:p>
          <a:p>
            <a:pPr algn="l">
              <a:lnSpc>
                <a:spcPts val="2070"/>
              </a:lnSpc>
            </a:pP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Frontend: vercel.com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Backend: render.com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BD: supabase.com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Docs API:</a:t>
            </a:r>
            <a:r>
              <a:rPr lang="en-US" sz="1725" u="sng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backend-agentex.onrender.com/api/docs"/>
              </a:rPr>
              <a:t> /api/docs</a:t>
            </a:r>
          </a:p>
          <a:p>
            <a:pPr algn="l">
              <a:lnSpc>
                <a:spcPts val="2070"/>
              </a:lnSpc>
            </a:pP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Logs en vivo disponibles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durante la demo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0120" y="7318911"/>
            <a:ext cx="4937760" cy="8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Usuario:  mauriciolillo10@gmail.com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Contraseña:  123456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Rol:  Admin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587852" y="6630033"/>
            <a:ext cx="5066577" cy="255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687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Node.js: https://github.com/MauriLS/backend-AgenteX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687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React: https://github.com/MauriLS/Front-AgenteX-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687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Microservicio Python: https://github.com/MauriLS/motor-ia-AgenteX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· DEMO EN VIVO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en Vivo · App en Producción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" y="2635035"/>
            <a:ext cx="636270" cy="636270"/>
            <a:chOff x="0" y="0"/>
            <a:chExt cx="848360" cy="848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5325" y="2644560"/>
            <a:ext cx="617220" cy="617220"/>
            <a:chOff x="0" y="0"/>
            <a:chExt cx="822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9705" y="2603412"/>
            <a:ext cx="7406640" cy="411480"/>
            <a:chOff x="0" y="0"/>
            <a:chExt cx="987552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Acceso y autenticación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9705" y="2946312"/>
            <a:ext cx="7406640" cy="553896"/>
            <a:chOff x="0" y="0"/>
            <a:chExt cx="9875520" cy="7385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875520" cy="738529"/>
            </a:xfrm>
            <a:custGeom>
              <a:avLst/>
              <a:gdLst/>
              <a:ahLst/>
              <a:cxnLst/>
              <a:rect r="r" b="b" t="t" l="l"/>
              <a:pathLst>
                <a:path h="738529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8529"/>
                  </a:lnTo>
                  <a:lnTo>
                    <a:pt x="0" y="738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16" r="0" b="-2038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9875520" cy="75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Abrir URL pública desde el navegador Iniciar sesión como SUPER_ADMIN Mostrar dashboard con métricas reales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3526575"/>
            <a:ext cx="636270" cy="636270"/>
            <a:chOff x="0" y="0"/>
            <a:chExt cx="848360" cy="848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95325" y="3536100"/>
            <a:ext cx="617220" cy="617220"/>
            <a:chOff x="0" y="0"/>
            <a:chExt cx="82296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9705" y="3494952"/>
            <a:ext cx="7406640" cy="411480"/>
            <a:chOff x="0" y="0"/>
            <a:chExt cx="987552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AGENTE DE</a:t>
              </a: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BODEGA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49705" y="3837852"/>
            <a:ext cx="7406640" cy="553896"/>
            <a:chOff x="0" y="0"/>
            <a:chExt cx="9875520" cy="7385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75520" cy="738529"/>
            </a:xfrm>
            <a:custGeom>
              <a:avLst/>
              <a:gdLst/>
              <a:ahLst/>
              <a:cxnLst/>
              <a:rect r="r" b="b" t="t" l="l"/>
              <a:pathLst>
                <a:path h="738529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8529"/>
                  </a:lnTo>
                  <a:lnTo>
                    <a:pt x="0" y="738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16" r="0" b="-2038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9875520" cy="75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Consultar stock de un producto específico Mostrar respuesta con datos reales del ERP Evidenciar protocolo anti-alucinación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4418115"/>
            <a:ext cx="636270" cy="636270"/>
            <a:chOff x="0" y="0"/>
            <a:chExt cx="848360" cy="848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95325" y="4427640"/>
            <a:ext cx="617220" cy="617220"/>
            <a:chOff x="0" y="0"/>
            <a:chExt cx="822960" cy="822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49705" y="4386492"/>
            <a:ext cx="7406640" cy="411480"/>
            <a:chOff x="0" y="0"/>
            <a:chExt cx="987552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AGENTE</a:t>
              </a: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ANALÍTICO 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49705" y="4729392"/>
            <a:ext cx="7406640" cy="553896"/>
            <a:chOff x="0" y="0"/>
            <a:chExt cx="9875520" cy="7385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875520" cy="738529"/>
            </a:xfrm>
            <a:custGeom>
              <a:avLst/>
              <a:gdLst/>
              <a:ahLst/>
              <a:cxnLst/>
              <a:rect r="r" b="b" t="t" l="l"/>
              <a:pathLst>
                <a:path h="738529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8529"/>
                  </a:lnTo>
                  <a:lnTo>
                    <a:pt x="0" y="738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16" r="0" b="-2038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875520" cy="75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</a:t>
              </a: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ultar ingresos por período Mostrar tabla Markdown con datos reales LLM auxiliar extrae rango temporal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5309655"/>
            <a:ext cx="636270" cy="636270"/>
            <a:chOff x="0" y="0"/>
            <a:chExt cx="848360" cy="848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95325" y="5319180"/>
            <a:ext cx="617220" cy="617220"/>
            <a:chOff x="0" y="0"/>
            <a:chExt cx="82296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49705" y="5278032"/>
            <a:ext cx="7406640" cy="411480"/>
            <a:chOff x="0" y="0"/>
            <a:chExt cx="987552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AGENTE DE</a:t>
              </a: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VENTAS 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49705" y="5620932"/>
            <a:ext cx="7406640" cy="553896"/>
            <a:chOff x="0" y="0"/>
            <a:chExt cx="9875520" cy="7385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5520" cy="738529"/>
            </a:xfrm>
            <a:custGeom>
              <a:avLst/>
              <a:gdLst/>
              <a:ahLst/>
              <a:cxnLst/>
              <a:rect r="r" b="b" t="t" l="l"/>
              <a:pathLst>
                <a:path h="738529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8529"/>
                  </a:lnTo>
                  <a:lnTo>
                    <a:pt x="0" y="738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16" r="0" b="-20388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875520" cy="75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</a:t>
              </a: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uscar cliente por nombre Mostrar flujo de desambiguación Perfil completo con historial de compras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6201195"/>
            <a:ext cx="636270" cy="636270"/>
            <a:chOff x="0" y="0"/>
            <a:chExt cx="848360" cy="848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5325" y="6210720"/>
            <a:ext cx="617220" cy="617220"/>
            <a:chOff x="0" y="0"/>
            <a:chExt cx="822960" cy="822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49705" y="6169572"/>
            <a:ext cx="7406640" cy="411480"/>
            <a:chOff x="0" y="0"/>
            <a:chExt cx="987552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AGENTE DE LOGISTICA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449705" y="6512472"/>
            <a:ext cx="7406640" cy="480060"/>
            <a:chOff x="0" y="0"/>
            <a:chExt cx="987552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Buscar ordenes de trabajo pendientes por rango de tiempo, o estado. 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85800" y="7092735"/>
            <a:ext cx="636270" cy="636270"/>
            <a:chOff x="0" y="0"/>
            <a:chExt cx="848360" cy="848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95325" y="7102260"/>
            <a:ext cx="617220" cy="617220"/>
            <a:chOff x="0" y="0"/>
            <a:chExt cx="822960" cy="8229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49705" y="7061112"/>
            <a:ext cx="7406640" cy="411480"/>
            <a:chOff x="0" y="0"/>
            <a:chExt cx="987552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</a:t>
              </a: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NEL DE ADMINISTRACIÓN 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49705" y="7404012"/>
            <a:ext cx="7406640" cy="553896"/>
            <a:chOff x="0" y="0"/>
            <a:chExt cx="9875520" cy="7385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875520" cy="738529"/>
            </a:xfrm>
            <a:custGeom>
              <a:avLst/>
              <a:gdLst/>
              <a:ahLst/>
              <a:cxnLst/>
              <a:rect r="r" b="b" t="t" l="l"/>
              <a:pathLst>
                <a:path h="738529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8529"/>
                  </a:lnTo>
                  <a:lnTo>
                    <a:pt x="0" y="738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16" r="0" b="-20388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9875520" cy="75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Aprovisio</a:t>
              </a: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nar empresa con mapeo ERP Gestión de agentes e instrucciones Gestión de usuarios por empresa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17355" y="3007995"/>
            <a:ext cx="128778" cy="6054090"/>
            <a:chOff x="0" y="0"/>
            <a:chExt cx="171704" cy="80721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2700" y="12700"/>
              <a:ext cx="146304" cy="8046720"/>
            </a:xfrm>
            <a:custGeom>
              <a:avLst/>
              <a:gdLst/>
              <a:ahLst/>
              <a:cxnLst/>
              <a:rect r="r" b="b" t="t" l="l"/>
              <a:pathLst>
                <a:path h="80467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71704" cy="8072120"/>
            </a:xfrm>
            <a:custGeom>
              <a:avLst/>
              <a:gdLst/>
              <a:ahLst/>
              <a:cxnLst/>
              <a:rect r="r" b="b" t="t" l="l"/>
              <a:pathLst>
                <a:path h="80721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059420"/>
                  </a:lnTo>
                  <a:cubicBezTo>
                    <a:pt x="171704" y="8066405"/>
                    <a:pt x="165989" y="8072120"/>
                    <a:pt x="159004" y="8072120"/>
                  </a:cubicBezTo>
                  <a:lnTo>
                    <a:pt x="12700" y="8072120"/>
                  </a:lnTo>
                  <a:cubicBezTo>
                    <a:pt x="5715" y="8072120"/>
                    <a:pt x="0" y="8066405"/>
                    <a:pt x="0" y="80594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059420"/>
                  </a:lnTo>
                  <a:lnTo>
                    <a:pt x="12700" y="8059420"/>
                  </a:lnTo>
                  <a:lnTo>
                    <a:pt x="12700" y="8046720"/>
                  </a:lnTo>
                  <a:lnTo>
                    <a:pt x="159004" y="8046720"/>
                  </a:lnTo>
                  <a:lnTo>
                    <a:pt x="159004" y="8059420"/>
                  </a:lnTo>
                  <a:lnTo>
                    <a:pt x="146304" y="80594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76275" y="8018106"/>
            <a:ext cx="636270" cy="636270"/>
            <a:chOff x="0" y="0"/>
            <a:chExt cx="848360" cy="848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2700" y="1270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48360" cy="848360"/>
            </a:xfrm>
            <a:custGeom>
              <a:avLst/>
              <a:gdLst/>
              <a:ahLst/>
              <a:cxnLst/>
              <a:rect r="r" b="b" t="t" l="l"/>
              <a:pathLst>
                <a:path h="848360" w="848360">
                  <a:moveTo>
                    <a:pt x="0" y="424180"/>
                  </a:moveTo>
                  <a:cubicBezTo>
                    <a:pt x="0" y="189865"/>
                    <a:pt x="189865" y="0"/>
                    <a:pt x="424180" y="0"/>
                  </a:cubicBezTo>
                  <a:lnTo>
                    <a:pt x="424180" y="12700"/>
                  </a:lnTo>
                  <a:lnTo>
                    <a:pt x="424180" y="0"/>
                  </a:lnTo>
                  <a:cubicBezTo>
                    <a:pt x="658495" y="0"/>
                    <a:pt x="848360" y="189865"/>
                    <a:pt x="848360" y="424180"/>
                  </a:cubicBezTo>
                  <a:cubicBezTo>
                    <a:pt x="848360" y="658495"/>
                    <a:pt x="658495" y="848360"/>
                    <a:pt x="424180" y="848360"/>
                  </a:cubicBezTo>
                  <a:lnTo>
                    <a:pt x="424180" y="835660"/>
                  </a:lnTo>
                  <a:lnTo>
                    <a:pt x="424180" y="848360"/>
                  </a:lnTo>
                  <a:cubicBezTo>
                    <a:pt x="189865" y="848360"/>
                    <a:pt x="0" y="658495"/>
                    <a:pt x="0" y="424180"/>
                  </a:cubicBezTo>
                  <a:lnTo>
                    <a:pt x="12700" y="424180"/>
                  </a:lnTo>
                  <a:lnTo>
                    <a:pt x="23495" y="430911"/>
                  </a:lnTo>
                  <a:cubicBezTo>
                    <a:pt x="20447" y="435737"/>
                    <a:pt x="14732" y="437896"/>
                    <a:pt x="9271" y="436372"/>
                  </a:cubicBezTo>
                  <a:cubicBezTo>
                    <a:pt x="3810" y="434848"/>
                    <a:pt x="0" y="429895"/>
                    <a:pt x="0" y="424180"/>
                  </a:cubicBezTo>
                  <a:moveTo>
                    <a:pt x="25400" y="424180"/>
                  </a:moveTo>
                  <a:lnTo>
                    <a:pt x="12700" y="424180"/>
                  </a:lnTo>
                  <a:lnTo>
                    <a:pt x="1905" y="417449"/>
                  </a:lnTo>
                  <a:cubicBezTo>
                    <a:pt x="4953" y="412623"/>
                    <a:pt x="10668" y="410464"/>
                    <a:pt x="16129" y="411988"/>
                  </a:cubicBezTo>
                  <a:cubicBezTo>
                    <a:pt x="21590" y="413512"/>
                    <a:pt x="25273" y="418592"/>
                    <a:pt x="25273" y="424180"/>
                  </a:cubicBezTo>
                  <a:cubicBezTo>
                    <a:pt x="25400" y="644398"/>
                    <a:pt x="203962" y="822960"/>
                    <a:pt x="424180" y="822960"/>
                  </a:cubicBezTo>
                  <a:cubicBezTo>
                    <a:pt x="644398" y="822960"/>
                    <a:pt x="822960" y="644398"/>
                    <a:pt x="822960" y="424180"/>
                  </a:cubicBezTo>
                  <a:lnTo>
                    <a:pt x="835660" y="424180"/>
                  </a:lnTo>
                  <a:lnTo>
                    <a:pt x="822960" y="424180"/>
                  </a:lnTo>
                  <a:cubicBezTo>
                    <a:pt x="822960" y="203962"/>
                    <a:pt x="644398" y="25400"/>
                    <a:pt x="424180" y="25400"/>
                  </a:cubicBezTo>
                  <a:lnTo>
                    <a:pt x="424180" y="12700"/>
                  </a:lnTo>
                  <a:lnTo>
                    <a:pt x="424180" y="25400"/>
                  </a:lnTo>
                  <a:cubicBezTo>
                    <a:pt x="203962" y="25400"/>
                    <a:pt x="25400" y="203962"/>
                    <a:pt x="25400" y="424180"/>
                  </a:cubicBez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85800" y="8027631"/>
            <a:ext cx="617220" cy="617220"/>
            <a:chOff x="0" y="0"/>
            <a:chExt cx="822960" cy="822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8229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40180" y="7986483"/>
            <a:ext cx="7406640" cy="411480"/>
            <a:chOff x="0" y="0"/>
            <a:chExt cx="987552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</a:t>
              </a:r>
              <a:r>
                <a:rPr lang="en-US" sz="1875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CIÓN DE SEGURIDAD 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40180" y="8329383"/>
            <a:ext cx="7406640" cy="553896"/>
            <a:chOff x="0" y="0"/>
            <a:chExt cx="9875520" cy="73852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875520" cy="738529"/>
            </a:xfrm>
            <a:custGeom>
              <a:avLst/>
              <a:gdLst/>
              <a:ahLst/>
              <a:cxnLst/>
              <a:rect r="r" b="b" t="t" l="l"/>
              <a:pathLst>
                <a:path h="738529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38529"/>
                  </a:lnTo>
                  <a:lnTo>
                    <a:pt x="0" y="7385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16" r="0" b="-20388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9875520" cy="75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</a:t>
              </a:r>
              <a:r>
                <a:rPr lang="en-US" sz="1575">
                  <a:solidFill>
                    <a:srgbClr val="1E1E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tentar acceso sin token → 401 Intentar acceso con rol incorrecto → 403 Mostrar historial reconstruido desde BD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· EVIDENCIA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 de Funcionamiento en la Nube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5800" y="2331720"/>
            <a:ext cx="16870680" cy="548640"/>
            <a:chOff x="0" y="0"/>
            <a:chExt cx="224942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494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C5F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 que respalda que la app no solo se ve, sino que opera correctamente · 2 minutos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6275" y="3145155"/>
            <a:ext cx="8248650" cy="2762250"/>
            <a:chOff x="0" y="0"/>
            <a:chExt cx="10998200" cy="368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6275" y="3145155"/>
            <a:ext cx="128778" cy="2762250"/>
            <a:chOff x="0" y="0"/>
            <a:chExt cx="171704" cy="368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F8F5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8F5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97280" y="3429000"/>
            <a:ext cx="7543800" cy="548640"/>
            <a:chOff x="0" y="0"/>
            <a:chExt cx="100584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Logs en vivo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97280" y="4055745"/>
            <a:ext cx="7543800" cy="50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Open Sans 1"/>
                <a:ea typeface="Open Sans 1"/>
                <a:cs typeface="Open Sans 1"/>
                <a:sym typeface="Open Sans 1"/>
              </a:rPr>
              <a:t>Logs estructurados con Pino visibles en tiempo real desde Render, indexados por empresa, motor y tiempo de respuesta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17355" y="3145155"/>
            <a:ext cx="8248650" cy="2762250"/>
            <a:chOff x="0" y="0"/>
            <a:chExt cx="10998200" cy="368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17355" y="3145155"/>
            <a:ext cx="128778" cy="2762250"/>
            <a:chOff x="0" y="0"/>
            <a:chExt cx="171704" cy="3683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F8F5C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8F5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738360" y="3429000"/>
            <a:ext cx="7543800" cy="548640"/>
            <a:chOff x="0" y="0"/>
            <a:chExt cx="100584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 CI/CD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738360" y="4008120"/>
            <a:ext cx="7543800" cy="2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Dep</a:t>
            </a: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loy automático en Render y Vercel tras cada merge a main con builds validados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76275" y="6231255"/>
            <a:ext cx="8248650" cy="2762250"/>
            <a:chOff x="0" y="0"/>
            <a:chExt cx="10998200" cy="3683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6275" y="6231255"/>
            <a:ext cx="128778" cy="2762250"/>
            <a:chOff x="0" y="0"/>
            <a:chExt cx="171704" cy="3683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F8F5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8F5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97280" y="6515100"/>
            <a:ext cx="7543800" cy="548640"/>
            <a:chOff x="0" y="0"/>
            <a:chExt cx="1005840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Métricas y monitoreo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97280" y="7094220"/>
            <a:ext cx="7543800" cy="552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ervicios Node.js y Python en estado LIVE con uptime y requests monitoreados en Render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6231255"/>
            <a:ext cx="8248650" cy="2762250"/>
            <a:chOff x="0" y="0"/>
            <a:chExt cx="10998200" cy="3683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5F9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12700" y="0"/>
                  </a:moveTo>
                  <a:lnTo>
                    <a:pt x="10985500" y="0"/>
                  </a:lnTo>
                  <a:cubicBezTo>
                    <a:pt x="10992485" y="0"/>
                    <a:pt x="10998200" y="5715"/>
                    <a:pt x="10998200" y="12700"/>
                  </a:cubicBezTo>
                  <a:lnTo>
                    <a:pt x="10998200" y="3670300"/>
                  </a:lnTo>
                  <a:cubicBezTo>
                    <a:pt x="10998200" y="3677285"/>
                    <a:pt x="10992485" y="3683000"/>
                    <a:pt x="10985500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0985500" y="3657600"/>
                  </a:lnTo>
                  <a:lnTo>
                    <a:pt x="10985500" y="3670300"/>
                  </a:lnTo>
                  <a:lnTo>
                    <a:pt x="10972800" y="3670300"/>
                  </a:lnTo>
                  <a:lnTo>
                    <a:pt x="10972800" y="12700"/>
                  </a:lnTo>
                  <a:lnTo>
                    <a:pt x="10985500" y="12700"/>
                  </a:lnTo>
                  <a:lnTo>
                    <a:pt x="109855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9DBE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17355" y="6231255"/>
            <a:ext cx="128778" cy="2762250"/>
            <a:chOff x="0" y="0"/>
            <a:chExt cx="171704" cy="3683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2700" y="1270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F8F5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1704" cy="3683000"/>
            </a:xfrm>
            <a:custGeom>
              <a:avLst/>
              <a:gdLst/>
              <a:ahLst/>
              <a:cxnLst/>
              <a:rect r="r" b="b" t="t" l="l"/>
              <a:pathLst>
                <a:path h="368300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670300"/>
                  </a:lnTo>
                  <a:cubicBezTo>
                    <a:pt x="171704" y="3677285"/>
                    <a:pt x="165989" y="3683000"/>
                    <a:pt x="159004" y="3683000"/>
                  </a:cubicBezTo>
                  <a:lnTo>
                    <a:pt x="12700" y="3683000"/>
                  </a:lnTo>
                  <a:cubicBezTo>
                    <a:pt x="5715" y="3683000"/>
                    <a:pt x="0" y="3677285"/>
                    <a:pt x="0" y="36703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670300"/>
                  </a:lnTo>
                  <a:lnTo>
                    <a:pt x="12700" y="3670300"/>
                  </a:lnTo>
                  <a:lnTo>
                    <a:pt x="12700" y="3657600"/>
                  </a:lnTo>
                  <a:lnTo>
                    <a:pt x="159004" y="3657600"/>
                  </a:lnTo>
                  <a:lnTo>
                    <a:pt x="159004" y="3670300"/>
                  </a:lnTo>
                  <a:lnTo>
                    <a:pt x="146304" y="367030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8F5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38360" y="6515100"/>
            <a:ext cx="7543800" cy="548640"/>
            <a:chOff x="0" y="0"/>
            <a:chExt cx="100584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058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 viva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9738360" y="7094220"/>
            <a:ext cx="7543800" cy="552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Per</a:t>
            </a:r>
            <a:r>
              <a:rPr lang="en-US" sz="1725">
                <a:solidFill>
                  <a:srgbClr val="1E1E1E"/>
                </a:solidFill>
                <a:latin typeface="Calibri (MS)"/>
                <a:ea typeface="Calibri (MS)"/>
                <a:cs typeface="Calibri (MS)"/>
                <a:sym typeface="Calibri (MS)"/>
              </a:rPr>
              <a:t>sistencia real en Supabase con registros generados durante la demo y 6 tablas activas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· EVIDENCIA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0" y="411480"/>
            <a:ext cx="6583680" cy="411480"/>
            <a:chOff x="0" y="0"/>
            <a:chExt cx="8778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·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 de Funcionamiento en la Nube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760796" y="3251589"/>
            <a:ext cx="6996518" cy="988860"/>
          </a:xfrm>
          <a:custGeom>
            <a:avLst/>
            <a:gdLst/>
            <a:ahLst/>
            <a:cxnLst/>
            <a:rect r="r" b="b" t="t" l="l"/>
            <a:pathLst>
              <a:path h="988860" w="6996518">
                <a:moveTo>
                  <a:pt x="0" y="0"/>
                </a:moveTo>
                <a:lnTo>
                  <a:pt x="6996518" y="0"/>
                </a:lnTo>
                <a:lnTo>
                  <a:pt x="6996518" y="988860"/>
                </a:lnTo>
                <a:lnTo>
                  <a:pt x="0" y="988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1526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828146" y="2473779"/>
            <a:ext cx="2075967" cy="751142"/>
            <a:chOff x="0" y="0"/>
            <a:chExt cx="2021737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1737" cy="731520"/>
            </a:xfrm>
            <a:custGeom>
              <a:avLst/>
              <a:gdLst/>
              <a:ahLst/>
              <a:cxnLst/>
              <a:rect r="r" b="b" t="t" l="l"/>
              <a:pathLst>
                <a:path h="731520" w="2021737">
                  <a:moveTo>
                    <a:pt x="0" y="0"/>
                  </a:moveTo>
                  <a:lnTo>
                    <a:pt x="2021737" y="0"/>
                  </a:lnTo>
                  <a:lnTo>
                    <a:pt x="202173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-397512" b="-217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021737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B1F4A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Logs en vivo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656959" y="2288286"/>
            <a:ext cx="6134974" cy="3378057"/>
          </a:xfrm>
          <a:custGeom>
            <a:avLst/>
            <a:gdLst/>
            <a:ahLst/>
            <a:cxnLst/>
            <a:rect r="r" b="b" t="t" l="l"/>
            <a:pathLst>
              <a:path h="3378057" w="6134974">
                <a:moveTo>
                  <a:pt x="0" y="0"/>
                </a:moveTo>
                <a:lnTo>
                  <a:pt x="6134974" y="0"/>
                </a:lnTo>
                <a:lnTo>
                  <a:pt x="6134974" y="3378057"/>
                </a:lnTo>
                <a:lnTo>
                  <a:pt x="0" y="3378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6892" r="0" b="-39803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79372" y="5859699"/>
            <a:ext cx="4497548" cy="2884170"/>
          </a:xfrm>
          <a:custGeom>
            <a:avLst/>
            <a:gdLst/>
            <a:ahLst/>
            <a:cxnLst/>
            <a:rect r="r" b="b" t="t" l="l"/>
            <a:pathLst>
              <a:path h="2884170" w="4497548">
                <a:moveTo>
                  <a:pt x="0" y="0"/>
                </a:moveTo>
                <a:lnTo>
                  <a:pt x="4497548" y="0"/>
                </a:lnTo>
                <a:lnTo>
                  <a:pt x="4497548" y="2884170"/>
                </a:lnTo>
                <a:lnTo>
                  <a:pt x="0" y="2884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204" r="0" b="-110204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60852" y="5859699"/>
            <a:ext cx="4497548" cy="3045950"/>
          </a:xfrm>
          <a:custGeom>
            <a:avLst/>
            <a:gdLst/>
            <a:ahLst/>
            <a:cxnLst/>
            <a:rect r="r" b="b" t="t" l="l"/>
            <a:pathLst>
              <a:path h="3045950" w="4497548">
                <a:moveTo>
                  <a:pt x="0" y="0"/>
                </a:moveTo>
                <a:lnTo>
                  <a:pt x="4497548" y="0"/>
                </a:lnTo>
                <a:lnTo>
                  <a:pt x="4497548" y="3045950"/>
                </a:lnTo>
                <a:lnTo>
                  <a:pt x="0" y="3045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749" r="0" b="-99952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566890" y="6325533"/>
            <a:ext cx="6225043" cy="3134405"/>
          </a:xfrm>
          <a:custGeom>
            <a:avLst/>
            <a:gdLst/>
            <a:ahLst/>
            <a:cxnLst/>
            <a:rect r="r" b="b" t="t" l="l"/>
            <a:pathLst>
              <a:path h="3134405" w="6225043">
                <a:moveTo>
                  <a:pt x="0" y="0"/>
                </a:moveTo>
                <a:lnTo>
                  <a:pt x="6225043" y="0"/>
                </a:lnTo>
                <a:lnTo>
                  <a:pt x="6225043" y="3134405"/>
                </a:lnTo>
                <a:lnTo>
                  <a:pt x="0" y="31344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0867" t="0" r="-50677" b="-78024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564248" y="1773870"/>
            <a:ext cx="2320396" cy="40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b="true" sz="2597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Pipeline CI/CD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97523" y="5859699"/>
            <a:ext cx="2453845" cy="31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</a:t>
            </a:r>
            <a:r>
              <a:rPr lang="en-US" b="true" sz="21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 datos viva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45002" y="5516799"/>
            <a:ext cx="2932906" cy="31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Métricas y monitoreo: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· MATRIZ DE AVANCE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Matriz de Avance de Funcionalidades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685800" y="3017520"/>
          <a:ext cx="16840200" cy="4373789"/>
        </p:xfrm>
        <a:graphic>
          <a:graphicData uri="http://schemas.openxmlformats.org/drawingml/2006/table">
            <a:tbl>
              <a:tblPr/>
              <a:tblGrid>
                <a:gridCol w="699627"/>
                <a:gridCol w="3830928"/>
                <a:gridCol w="6417655"/>
                <a:gridCol w="2741780"/>
                <a:gridCol w="3150210"/>
              </a:tblGrid>
              <a:tr h="609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#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DESCRIPCIÓN BREVE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EVIDENCIA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ESTADO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A"/>
                    </a:solidFill>
                  </a:tcPr>
                </a:tc>
              </a:tr>
              <a:tr h="534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Autenticación multi-tenant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ogin JWT con roles SUPER_ADMIN / ADMIN / USER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u="sng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hlinkClick r:id="rId4" tooltip="https://front-agente-x.vercel.app/login"/>
                        </a:rPr>
                        <a:t>URL</a:t>
                      </a: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IMPLEMENTADA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F5C"/>
                    </a:solidFill>
                  </a:tcPr>
                </a:tc>
              </a:tr>
              <a:tr h="609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Motores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especializados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 mot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ores: bodega, analítica, ventas, logística conectados a ERP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URL + PR #__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IMPLEMENTADA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F5C"/>
                    </a:solidFill>
                  </a:tcPr>
                </a:tc>
              </a:tr>
              <a:tr h="609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Proto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colo anti-alucinación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Sist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ema prompt jerárquico de 5 niveles con datos reales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URL + PR #__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IMPLEMENTADA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F5C"/>
                    </a:solidFill>
                  </a:tcPr>
                </a:tc>
              </a:tr>
              <a:tr h="609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Aprovis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ionamiento B2B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Crear empr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esa + agentes + mapeo ERP desde formulario web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URL + PR #__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IMPLEMENTADA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F5C"/>
                    </a:solidFill>
                  </a:tcPr>
                </a:tc>
              </a:tr>
              <a:tr h="791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nel administración por roles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SUPER_ADMIN ge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stiona empresas · ADMIN gestiona usuarios y agentes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Capturas en anexo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IMPLEMENTADA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F5C"/>
                    </a:solidFill>
                  </a:tcPr>
                </a:tc>
              </a:tr>
              <a:tr h="6095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otor RAG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Inge</a:t>
                      </a:r>
                      <a:r>
                        <a:rPr lang="en-US" sz="1725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 de documentos privados corporativos.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Pendiente para EA3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 PROGRESO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A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· INTEGRACIONES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Integraciones Necesarias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9830041" y="1312807"/>
            <a:ext cx="7032626" cy="8335158"/>
          </a:xfrm>
          <a:custGeom>
            <a:avLst/>
            <a:gdLst/>
            <a:ahLst/>
            <a:cxnLst/>
            <a:rect r="r" b="b" t="t" l="l"/>
            <a:pathLst>
              <a:path h="8335158" w="7032626">
                <a:moveTo>
                  <a:pt x="0" y="0"/>
                </a:moveTo>
                <a:lnTo>
                  <a:pt x="7032627" y="0"/>
                </a:lnTo>
                <a:lnTo>
                  <a:pt x="7032627" y="8335159"/>
                </a:lnTo>
                <a:lnTo>
                  <a:pt x="0" y="8335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090" r="0" b="-11164"/>
            </a:stretch>
          </a:blipFill>
        </p:spPr>
      </p:sp>
      <p:graphicFrame>
        <p:nvGraphicFramePr>
          <p:cNvPr name="Object 21" id="21"/>
          <p:cNvGraphicFramePr/>
          <p:nvPr/>
        </p:nvGraphicFramePr>
        <p:xfrm>
          <a:off x="994589" y="3702883"/>
          <a:ext cx="3771900" cy="3143250"/>
        </p:xfrm>
        <a:graphic>
          <a:graphicData uri="http://schemas.openxmlformats.org/presentationml/2006/ole">
            <p:oleObj imgW="4521200" imgH="3886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3555644" y="2966323"/>
            <a:ext cx="2355350" cy="56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API DeepSeek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 · CONCLUSIÓN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51870" y="2364867"/>
            <a:ext cx="128778" cy="6465570"/>
            <a:chOff x="0" y="0"/>
            <a:chExt cx="171704" cy="8620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B5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B50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03020" y="3311652"/>
            <a:ext cx="6357164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PROBLEMA → SOLUCIÓN DEMOSTRADA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extracción manual de datos corporativos generaba latencia inaceptable en la toma de 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decisiones de las PyMEs.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AgenteX resuelve esto con 4 motores 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especializados conectados en tiempo real 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los endpoints de cada empresa, con </a:t>
            </a:r>
          </a:p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55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respuestas en lenguaje natural en segundos.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24028" y="3079454"/>
            <a:ext cx="6538020" cy="195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57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BENEFICIOS DEMOSTRADOS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57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✓ Respuesta en segundos vs horas manual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57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✓ Datos reales · cero alucinaciones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57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✓ Sin curva de aprendizaje técnico</a:t>
            </a:r>
          </a:p>
          <a:p>
            <a:pPr algn="ctr">
              <a:lnSpc>
                <a:spcPts val="3085"/>
              </a:lnSpc>
              <a:spcBef>
                <a:spcPct val="0"/>
              </a:spcBef>
            </a:pPr>
            <a:r>
              <a:rPr lang="en-US" sz="257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✓ Escalable a nuevas empresas en minutos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1172" y="5984910"/>
            <a:ext cx="7103732" cy="200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3"/>
              </a:lnSpc>
              <a:spcBef>
                <a:spcPct val="0"/>
              </a:spcBef>
            </a:pPr>
            <a:r>
              <a:rPr lang="en-US" sz="26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ESTADO EN PRODUCCIÓN</a:t>
            </a:r>
          </a:p>
          <a:p>
            <a:pPr algn="ctr">
              <a:lnSpc>
                <a:spcPts val="3153"/>
              </a:lnSpc>
              <a:spcBef>
                <a:spcPct val="0"/>
              </a:spcBef>
            </a:pPr>
            <a:r>
              <a:rPr lang="en-US" sz="26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Funcionalidades implementadas</a:t>
            </a:r>
          </a:p>
          <a:p>
            <a:pPr algn="ctr">
              <a:lnSpc>
                <a:spcPts val="3153"/>
              </a:lnSpc>
              <a:spcBef>
                <a:spcPct val="0"/>
              </a:spcBef>
            </a:pPr>
            <a:r>
              <a:rPr lang="en-US" sz="26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y desplegadas en la URL pública.</a:t>
            </a:r>
          </a:p>
          <a:p>
            <a:pPr algn="ctr">
              <a:lnSpc>
                <a:spcPts val="3153"/>
              </a:lnSpc>
              <a:spcBef>
                <a:spcPct val="0"/>
              </a:spcBef>
            </a:pPr>
          </a:p>
          <a:p>
            <a:pPr algn="ctr">
              <a:lnSpc>
                <a:spcPts val="3153"/>
              </a:lnSpc>
              <a:spcBef>
                <a:spcPct val="0"/>
              </a:spcBef>
            </a:pPr>
            <a:r>
              <a:rPr lang="en-US" sz="262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96% del MVP operativo y demostrado en vivo.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8711696" y="1424369"/>
            <a:ext cx="8143721" cy="7712583"/>
          </a:xfrm>
          <a:custGeom>
            <a:avLst/>
            <a:gdLst/>
            <a:ahLst/>
            <a:cxnLst/>
            <a:rect r="r" b="b" t="t" l="l"/>
            <a:pathLst>
              <a:path h="7712583" w="8143721">
                <a:moveTo>
                  <a:pt x="0" y="0"/>
                </a:moveTo>
                <a:lnTo>
                  <a:pt x="8143721" y="0"/>
                </a:lnTo>
                <a:lnTo>
                  <a:pt x="8143721" y="7712583"/>
                </a:lnTo>
                <a:lnTo>
                  <a:pt x="0" y="7712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712414" y="5105400"/>
            <a:ext cx="1447932" cy="72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1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Árbol de problema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Alta resolución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88219" y="2858005"/>
            <a:ext cx="6425530" cy="5639098"/>
          </a:xfrm>
          <a:custGeom>
            <a:avLst/>
            <a:gdLst/>
            <a:ahLst/>
            <a:cxnLst/>
            <a:rect r="r" b="b" t="t" l="l"/>
            <a:pathLst>
              <a:path h="5639098" w="6425530">
                <a:moveTo>
                  <a:pt x="0" y="0"/>
                </a:moveTo>
                <a:lnTo>
                  <a:pt x="6425530" y="0"/>
                </a:lnTo>
                <a:lnTo>
                  <a:pt x="6425530" y="5639098"/>
                </a:lnTo>
                <a:lnTo>
                  <a:pt x="0" y="5639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68" t="-10788" r="0" b="-1394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373760" y="3029395"/>
            <a:ext cx="3486668" cy="5185735"/>
          </a:xfrm>
          <a:custGeom>
            <a:avLst/>
            <a:gdLst/>
            <a:ahLst/>
            <a:cxnLst/>
            <a:rect r="r" b="b" t="t" l="l"/>
            <a:pathLst>
              <a:path h="5185735" w="3486668">
                <a:moveTo>
                  <a:pt x="0" y="0"/>
                </a:moveTo>
                <a:lnTo>
                  <a:pt x="3486668" y="0"/>
                </a:lnTo>
                <a:lnTo>
                  <a:pt x="3486668" y="5185735"/>
                </a:lnTo>
                <a:lnTo>
                  <a:pt x="0" y="5185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347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57133" y="3029395"/>
            <a:ext cx="3370648" cy="5185735"/>
          </a:xfrm>
          <a:custGeom>
            <a:avLst/>
            <a:gdLst/>
            <a:ahLst/>
            <a:cxnLst/>
            <a:rect r="r" b="b" t="t" l="l"/>
            <a:pathLst>
              <a:path h="5185735" w="3370648">
                <a:moveTo>
                  <a:pt x="0" y="0"/>
                </a:moveTo>
                <a:lnTo>
                  <a:pt x="3370648" y="0"/>
                </a:lnTo>
                <a:lnTo>
                  <a:pt x="3370648" y="5185735"/>
                </a:lnTo>
                <a:lnTo>
                  <a:pt x="0" y="5185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944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30200" y="3029395"/>
            <a:ext cx="3434498" cy="5185735"/>
          </a:xfrm>
          <a:custGeom>
            <a:avLst/>
            <a:gdLst/>
            <a:ahLst/>
            <a:cxnLst/>
            <a:rect r="r" b="b" t="t" l="l"/>
            <a:pathLst>
              <a:path h="5185735" w="3434498">
                <a:moveTo>
                  <a:pt x="0" y="0"/>
                </a:moveTo>
                <a:lnTo>
                  <a:pt x="3434498" y="0"/>
                </a:lnTo>
                <a:lnTo>
                  <a:pt x="3434498" y="5185735"/>
                </a:lnTo>
                <a:lnTo>
                  <a:pt x="0" y="51857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413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03561" y="1392753"/>
            <a:ext cx="1710035" cy="72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Figuras 3.1 - 3.4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Carta Gantt completa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 sprints · 12 semanas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855295" y="2338098"/>
            <a:ext cx="11671833" cy="6510833"/>
          </a:xfrm>
          <a:custGeom>
            <a:avLst/>
            <a:gdLst/>
            <a:ahLst/>
            <a:cxnLst/>
            <a:rect r="r" b="b" t="t" l="l"/>
            <a:pathLst>
              <a:path h="6510833" w="11671833">
                <a:moveTo>
                  <a:pt x="0" y="0"/>
                </a:moveTo>
                <a:lnTo>
                  <a:pt x="11671833" y="0"/>
                </a:lnTo>
                <a:lnTo>
                  <a:pt x="11671833" y="6510833"/>
                </a:lnTo>
                <a:lnTo>
                  <a:pt x="0" y="651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28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5105400"/>
            <a:ext cx="2322737" cy="66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5 Modelo ER dbdiagram.io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6688728" y="1149179"/>
            <a:ext cx="10867752" cy="8910885"/>
          </a:xfrm>
          <a:custGeom>
            <a:avLst/>
            <a:gdLst/>
            <a:ahLst/>
            <a:cxnLst/>
            <a:rect r="r" b="b" t="t" l="l"/>
            <a:pathLst>
              <a:path h="8910885" w="10867752">
                <a:moveTo>
                  <a:pt x="0" y="0"/>
                </a:moveTo>
                <a:lnTo>
                  <a:pt x="10867752" y="0"/>
                </a:lnTo>
                <a:lnTo>
                  <a:pt x="10867752" y="8910885"/>
                </a:lnTo>
                <a:lnTo>
                  <a:pt x="0" y="8910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084" t="0" r="-36194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5105400"/>
            <a:ext cx="2322737" cy="66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6 Modelo Actual base de datos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600330" y="1911261"/>
            <a:ext cx="5194357" cy="7347039"/>
          </a:xfrm>
          <a:custGeom>
            <a:avLst/>
            <a:gdLst/>
            <a:ahLst/>
            <a:cxnLst/>
            <a:rect r="r" b="b" t="t" l="l"/>
            <a:pathLst>
              <a:path h="7347039" w="5194357">
                <a:moveTo>
                  <a:pt x="0" y="0"/>
                </a:moveTo>
                <a:lnTo>
                  <a:pt x="5194357" y="0"/>
                </a:lnTo>
                <a:lnTo>
                  <a:pt x="5194357" y="7347039"/>
                </a:lnTo>
                <a:lnTo>
                  <a:pt x="0" y="734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752823" y="1911261"/>
            <a:ext cx="5318833" cy="7523102"/>
          </a:xfrm>
          <a:custGeom>
            <a:avLst/>
            <a:gdLst/>
            <a:ahLst/>
            <a:cxnLst/>
            <a:rect r="r" b="b" t="t" l="l"/>
            <a:pathLst>
              <a:path h="7523102" w="5318833">
                <a:moveTo>
                  <a:pt x="0" y="0"/>
                </a:moveTo>
                <a:lnTo>
                  <a:pt x="5318833" y="0"/>
                </a:lnTo>
                <a:lnTo>
                  <a:pt x="5318833" y="7523102"/>
                </a:lnTo>
                <a:lnTo>
                  <a:pt x="0" y="75231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5105400"/>
            <a:ext cx="2322737" cy="3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Figuras 8 y 9 C4 Nivel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009830" y="1412938"/>
            <a:ext cx="7478070" cy="8011288"/>
          </a:xfrm>
          <a:custGeom>
            <a:avLst/>
            <a:gdLst/>
            <a:ahLst/>
            <a:cxnLst/>
            <a:rect r="r" b="b" t="t" l="l"/>
            <a:pathLst>
              <a:path h="8011288" w="7478070">
                <a:moveTo>
                  <a:pt x="0" y="0"/>
                </a:moveTo>
                <a:lnTo>
                  <a:pt x="7478070" y="0"/>
                </a:lnTo>
                <a:lnTo>
                  <a:pt x="7478070" y="8011288"/>
                </a:lnTo>
                <a:lnTo>
                  <a:pt x="0" y="801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2028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967974" y="2116455"/>
            <a:ext cx="6041856" cy="7250240"/>
          </a:xfrm>
          <a:custGeom>
            <a:avLst/>
            <a:gdLst/>
            <a:ahLst/>
            <a:cxnLst/>
            <a:rect r="r" b="b" t="t" l="l"/>
            <a:pathLst>
              <a:path h="7250240" w="6041856">
                <a:moveTo>
                  <a:pt x="0" y="0"/>
                </a:moveTo>
                <a:lnTo>
                  <a:pt x="6041856" y="0"/>
                </a:lnTo>
                <a:lnTo>
                  <a:pt x="6041856" y="7250240"/>
                </a:lnTo>
                <a:lnTo>
                  <a:pt x="0" y="72502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786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5105400"/>
            <a:ext cx="2322737" cy="9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Figuras 19 - 26 Capturas del sistema en producción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957241" y="2376674"/>
            <a:ext cx="11737173" cy="6763546"/>
          </a:xfrm>
          <a:custGeom>
            <a:avLst/>
            <a:gdLst/>
            <a:ahLst/>
            <a:cxnLst/>
            <a:rect r="r" b="b" t="t" l="l"/>
            <a:pathLst>
              <a:path h="6763546" w="11737173">
                <a:moveTo>
                  <a:pt x="0" y="0"/>
                </a:moveTo>
                <a:lnTo>
                  <a:pt x="11737173" y="0"/>
                </a:lnTo>
                <a:lnTo>
                  <a:pt x="11737173" y="6763546"/>
                </a:lnTo>
                <a:lnTo>
                  <a:pt x="0" y="676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0908" y="4980625"/>
            <a:ext cx="2322737" cy="9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Swa</a:t>
            </a: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gger API Docs 20 rutas documentadas /api/docs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1B1F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 · ANEXOS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0" y="411480"/>
            <a:ext cx="10012680" cy="411480"/>
            <a:chOff x="0" y="0"/>
            <a:chExt cx="133502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50239" cy="548640"/>
            </a:xfrm>
            <a:custGeom>
              <a:avLst/>
              <a:gdLst/>
              <a:ahLst/>
              <a:cxnLst/>
              <a:rect r="r" b="b" t="t" l="l"/>
              <a:pathLst>
                <a:path h="548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135" r="0" b="-4241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502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spc="3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TALLER DE PROGRAMACIÓN APLICADO  |  TPY1101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0" y="9738360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800" y="9738360"/>
            <a:ext cx="12344400" cy="411480"/>
            <a:chOff x="0" y="0"/>
            <a:chExt cx="164592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6459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5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EA2 · Validación de la solución en producción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6275" y="2116455"/>
            <a:ext cx="1253490" cy="115062"/>
            <a:chOff x="0" y="0"/>
            <a:chExt cx="1671320" cy="153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64592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1B1F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71320" cy="153416"/>
            </a:xfrm>
            <a:custGeom>
              <a:avLst/>
              <a:gdLst/>
              <a:ahLst/>
              <a:cxnLst/>
              <a:rect r="r" b="b" t="t" l="l"/>
              <a:pathLst>
                <a:path h="153416" w="1671320">
                  <a:moveTo>
                    <a:pt x="12700" y="0"/>
                  </a:moveTo>
                  <a:lnTo>
                    <a:pt x="1658620" y="0"/>
                  </a:lnTo>
                  <a:cubicBezTo>
                    <a:pt x="1665605" y="0"/>
                    <a:pt x="1671320" y="5715"/>
                    <a:pt x="1671320" y="12700"/>
                  </a:cubicBezTo>
                  <a:lnTo>
                    <a:pt x="1671320" y="140716"/>
                  </a:lnTo>
                  <a:cubicBezTo>
                    <a:pt x="1671320" y="147701"/>
                    <a:pt x="1665605" y="153416"/>
                    <a:pt x="1658620" y="153416"/>
                  </a:cubicBezTo>
                  <a:lnTo>
                    <a:pt x="12700" y="153416"/>
                  </a:lnTo>
                  <a:cubicBezTo>
                    <a:pt x="5715" y="153416"/>
                    <a:pt x="0" y="147701"/>
                    <a:pt x="0" y="14071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0716"/>
                  </a:lnTo>
                  <a:lnTo>
                    <a:pt x="12700" y="140716"/>
                  </a:lnTo>
                  <a:lnTo>
                    <a:pt x="12700" y="128016"/>
                  </a:lnTo>
                  <a:lnTo>
                    <a:pt x="1658620" y="128016"/>
                  </a:lnTo>
                  <a:lnTo>
                    <a:pt x="1658620" y="140716"/>
                  </a:lnTo>
                  <a:lnTo>
                    <a:pt x="1645920" y="140716"/>
                  </a:lnTo>
                  <a:lnTo>
                    <a:pt x="1645920" y="12700"/>
                  </a:lnTo>
                  <a:lnTo>
                    <a:pt x="1658620" y="12700"/>
                  </a:lnTo>
                  <a:lnTo>
                    <a:pt x="165862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B1F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" y="960120"/>
            <a:ext cx="16870680" cy="1165860"/>
            <a:chOff x="0" y="0"/>
            <a:chExt cx="224942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942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959" r="0" b="-2319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2249424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1E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 · Material de Respaldo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957241" y="2376674"/>
            <a:ext cx="11737173" cy="6763546"/>
          </a:xfrm>
          <a:custGeom>
            <a:avLst/>
            <a:gdLst/>
            <a:ahLst/>
            <a:cxnLst/>
            <a:rect r="r" b="b" t="t" l="l"/>
            <a:pathLst>
              <a:path h="6763546" w="11737173">
                <a:moveTo>
                  <a:pt x="0" y="0"/>
                </a:moveTo>
                <a:lnTo>
                  <a:pt x="11737173" y="0"/>
                </a:lnTo>
                <a:lnTo>
                  <a:pt x="11737173" y="6763546"/>
                </a:lnTo>
                <a:lnTo>
                  <a:pt x="0" y="6763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0908" y="4980625"/>
            <a:ext cx="2322737" cy="9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Swa</a:t>
            </a:r>
            <a:r>
              <a:rPr lang="en-US" sz="20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gger API Docs 20 rutas documentadas /api/docs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DAHKc2Fs2ME</dc:identifier>
  <dcterms:modified xsi:type="dcterms:W3CDTF">2011-08-01T06:04:30Z</dcterms:modified>
  <cp:revision>1</cp:revision>
  <dc:title>Copia de Presentacion_EA2_TPY1101</dc:title>
</cp:coreProperties>
</file>