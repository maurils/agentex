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Montserrat Bold" charset="1" panose="00000800000000000000"/>
      <p:regular r:id="rId24"/>
    </p:embeddedFont>
    <p:embeddedFont>
      <p:font typeface="Montserrat" charset="1" panose="00000500000000000000"/>
      <p:regular r:id="rId25"/>
    </p:embeddedFont>
    <p:embeddedFont>
      <p:font typeface="Open Sans Bold" charset="1" panose="020B0806030504020204"/>
      <p:regular r:id="rId26"/>
    </p:embeddedFont>
    <p:embeddedFont>
      <p:font typeface="Montserrat Bold Italics" charset="1" panose="000008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svg" Type="http://schemas.openxmlformats.org/officeDocument/2006/relationships/image"/><Relationship Id="rId2" Target="../media/image4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1710" y="304443"/>
            <a:ext cx="6546953" cy="1448513"/>
          </a:xfrm>
          <a:custGeom>
            <a:avLst/>
            <a:gdLst/>
            <a:ahLst/>
            <a:cxnLst/>
            <a:rect r="r" b="b" t="t" l="l"/>
            <a:pathLst>
              <a:path h="1448513" w="6546953">
                <a:moveTo>
                  <a:pt x="0" y="0"/>
                </a:moveTo>
                <a:lnTo>
                  <a:pt x="6546953" y="0"/>
                </a:lnTo>
                <a:lnTo>
                  <a:pt x="6546953" y="1448514"/>
                </a:lnTo>
                <a:lnTo>
                  <a:pt x="0" y="14485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309631"/>
            <a:ext cx="18288000" cy="8445731"/>
          </a:xfrm>
          <a:custGeom>
            <a:avLst/>
            <a:gdLst/>
            <a:ahLst/>
            <a:cxnLst/>
            <a:rect r="r" b="b" t="t" l="l"/>
            <a:pathLst>
              <a:path h="8445731" w="18288000">
                <a:moveTo>
                  <a:pt x="0" y="0"/>
                </a:moveTo>
                <a:lnTo>
                  <a:pt x="18288000" y="0"/>
                </a:lnTo>
                <a:lnTo>
                  <a:pt x="18288000" y="8445730"/>
                </a:lnTo>
                <a:lnTo>
                  <a:pt x="0" y="84457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735569" y="4506715"/>
            <a:ext cx="6816861" cy="1657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602"/>
              </a:lnSpc>
            </a:pPr>
            <a:r>
              <a:rPr lang="en-US" sz="971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AGENTE X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377615" y="9061139"/>
            <a:ext cx="1010044" cy="356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SIY6121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060111" y="659846"/>
            <a:ext cx="457497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Taller de Programación Aplicado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525283" y="8058571"/>
            <a:ext cx="186237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Mauricio Lillo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0593" y="686597"/>
            <a:ext cx="3650261" cy="688987"/>
          </a:xfrm>
          <a:custGeom>
            <a:avLst/>
            <a:gdLst/>
            <a:ahLst/>
            <a:cxnLst/>
            <a:rect r="r" b="b" t="t" l="l"/>
            <a:pathLst>
              <a:path h="688987" w="3650261">
                <a:moveTo>
                  <a:pt x="0" y="0"/>
                </a:moveTo>
                <a:lnTo>
                  <a:pt x="3650261" y="0"/>
                </a:lnTo>
                <a:lnTo>
                  <a:pt x="3650261" y="688987"/>
                </a:lnTo>
                <a:lnTo>
                  <a:pt x="0" y="688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278645"/>
            <a:ext cx="2363129" cy="175437"/>
            <a:chOff x="0" y="0"/>
            <a:chExt cx="5190797" cy="3853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90810" cy="385341"/>
            </a:xfrm>
            <a:custGeom>
              <a:avLst/>
              <a:gdLst/>
              <a:ahLst/>
              <a:cxnLst/>
              <a:rect r="r" b="b" t="t" l="l"/>
              <a:pathLst>
                <a:path h="385341" w="5190810">
                  <a:moveTo>
                    <a:pt x="0" y="0"/>
                  </a:moveTo>
                  <a:lnTo>
                    <a:pt x="5190810" y="0"/>
                  </a:lnTo>
                  <a:lnTo>
                    <a:pt x="5190810" y="385341"/>
                  </a:lnTo>
                  <a:lnTo>
                    <a:pt x="0" y="385341"/>
                  </a:lnTo>
                  <a:close/>
                </a:path>
              </a:pathLst>
            </a:custGeom>
            <a:solidFill>
              <a:srgbClr val="000B3D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3458407" y="4331275"/>
            <a:ext cx="3800893" cy="3477817"/>
          </a:xfrm>
          <a:custGeom>
            <a:avLst/>
            <a:gdLst/>
            <a:ahLst/>
            <a:cxnLst/>
            <a:rect r="r" b="b" t="t" l="l"/>
            <a:pathLst>
              <a:path h="3477817" w="3800893">
                <a:moveTo>
                  <a:pt x="0" y="0"/>
                </a:moveTo>
                <a:lnTo>
                  <a:pt x="3800893" y="0"/>
                </a:lnTo>
                <a:lnTo>
                  <a:pt x="3800893" y="3477817"/>
                </a:lnTo>
                <a:lnTo>
                  <a:pt x="0" y="34778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688917"/>
            <a:ext cx="10037252" cy="1370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72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Contexto del Proyecto y Problema Detectado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7610" y="3127417"/>
            <a:ext cx="11362643" cy="4959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399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Contexto general:</a:t>
            </a:r>
          </a:p>
          <a:p>
            <a:pPr algn="just">
              <a:lnSpc>
                <a:spcPts val="399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velocidad de decisión es vital, pero los datos están desconectados entre sistemas rígidos (ERPs/CRMs) y documentos cualitativos (PDFs)</a:t>
            </a:r>
          </a:p>
          <a:p>
            <a:pPr algn="just">
              <a:lnSpc>
                <a:spcPts val="3990"/>
              </a:lnSpc>
            </a:pPr>
          </a:p>
          <a:p>
            <a:pPr algn="just" marL="755651" indent="-377825" lvl="1">
              <a:lnSpc>
                <a:spcPts val="399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Problema identificado:</a:t>
            </a:r>
          </a:p>
          <a:p>
            <a:pPr algn="just">
              <a:lnSpc>
                <a:spcPts val="399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Extracción manual de métricas genera sobrecarga cognitiva y alta latencia..</a:t>
            </a:r>
          </a:p>
          <a:p>
            <a:pPr algn="just">
              <a:lnSpc>
                <a:spcPts val="3648"/>
              </a:lnSpc>
            </a:pPr>
          </a:p>
          <a:p>
            <a:pPr algn="just" marL="0" indent="0" lvl="0">
              <a:lnSpc>
                <a:spcPts val="3648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57610" y="7478394"/>
            <a:ext cx="12300797" cy="1882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9" indent="-377824" lvl="1">
              <a:lnSpc>
                <a:spcPts val="398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Justificación del problema: </a:t>
            </a:r>
          </a:p>
          <a:p>
            <a:pPr algn="l">
              <a:lnSpc>
                <a:spcPts val="3648"/>
              </a:lnSpc>
            </a:pPr>
            <a:r>
              <a:rPr lang="en-US" sz="3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Decisiones reactivas, pérdida de horas operativas y subutilización de datos</a:t>
            </a:r>
          </a:p>
          <a:p>
            <a:pPr algn="just" marL="0" indent="0" lvl="0">
              <a:lnSpc>
                <a:spcPts val="364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0593" y="686597"/>
            <a:ext cx="3650261" cy="688987"/>
          </a:xfrm>
          <a:custGeom>
            <a:avLst/>
            <a:gdLst/>
            <a:ahLst/>
            <a:cxnLst/>
            <a:rect r="r" b="b" t="t" l="l"/>
            <a:pathLst>
              <a:path h="688987" w="3650261">
                <a:moveTo>
                  <a:pt x="0" y="0"/>
                </a:moveTo>
                <a:lnTo>
                  <a:pt x="3650261" y="0"/>
                </a:lnTo>
                <a:lnTo>
                  <a:pt x="3650261" y="688987"/>
                </a:lnTo>
                <a:lnTo>
                  <a:pt x="0" y="688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811730" y="4199405"/>
            <a:ext cx="2363129" cy="175437"/>
            <a:chOff x="0" y="0"/>
            <a:chExt cx="5190797" cy="3853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90810" cy="385341"/>
            </a:xfrm>
            <a:custGeom>
              <a:avLst/>
              <a:gdLst/>
              <a:ahLst/>
              <a:cxnLst/>
              <a:rect r="r" b="b" t="t" l="l"/>
              <a:pathLst>
                <a:path h="385341" w="5190810">
                  <a:moveTo>
                    <a:pt x="0" y="0"/>
                  </a:moveTo>
                  <a:lnTo>
                    <a:pt x="5190810" y="0"/>
                  </a:lnTo>
                  <a:lnTo>
                    <a:pt x="5190810" y="385341"/>
                  </a:lnTo>
                  <a:lnTo>
                    <a:pt x="0" y="385341"/>
                  </a:lnTo>
                  <a:close/>
                </a:path>
              </a:pathLst>
            </a:custGeom>
            <a:solidFill>
              <a:srgbClr val="000B3D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23623" y="876047"/>
            <a:ext cx="8850826" cy="8382253"/>
          </a:xfrm>
          <a:custGeom>
            <a:avLst/>
            <a:gdLst/>
            <a:ahLst/>
            <a:cxnLst/>
            <a:rect r="r" b="b" t="t" l="l"/>
            <a:pathLst>
              <a:path h="8382253" w="8850826">
                <a:moveTo>
                  <a:pt x="0" y="0"/>
                </a:moveTo>
                <a:lnTo>
                  <a:pt x="8850826" y="0"/>
                </a:lnTo>
                <a:lnTo>
                  <a:pt x="8850826" y="8382253"/>
                </a:lnTo>
                <a:lnTo>
                  <a:pt x="0" y="83822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3106" y="2712806"/>
            <a:ext cx="7420377" cy="1370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72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Contexto del Proyecto y Problema Detectado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102438" y="4947485"/>
            <a:ext cx="6156862" cy="411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8"/>
              </a:lnSpc>
              <a:spcBef>
                <a:spcPct val="0"/>
              </a:spcBef>
            </a:pPr>
            <a:r>
              <a:rPr lang="en-US" b="true" sz="285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 Árbol de problema/oportunidad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0593" y="686597"/>
            <a:ext cx="3650261" cy="688987"/>
          </a:xfrm>
          <a:custGeom>
            <a:avLst/>
            <a:gdLst/>
            <a:ahLst/>
            <a:cxnLst/>
            <a:rect r="r" b="b" t="t" l="l"/>
            <a:pathLst>
              <a:path h="688987" w="3650261">
                <a:moveTo>
                  <a:pt x="0" y="0"/>
                </a:moveTo>
                <a:lnTo>
                  <a:pt x="3650261" y="0"/>
                </a:lnTo>
                <a:lnTo>
                  <a:pt x="3650261" y="688987"/>
                </a:lnTo>
                <a:lnTo>
                  <a:pt x="0" y="688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811730" y="4199405"/>
            <a:ext cx="2363129" cy="175437"/>
            <a:chOff x="0" y="0"/>
            <a:chExt cx="5190797" cy="3853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90810" cy="385341"/>
            </a:xfrm>
            <a:custGeom>
              <a:avLst/>
              <a:gdLst/>
              <a:ahLst/>
              <a:cxnLst/>
              <a:rect r="r" b="b" t="t" l="l"/>
              <a:pathLst>
                <a:path h="385341" w="5190810">
                  <a:moveTo>
                    <a:pt x="0" y="0"/>
                  </a:moveTo>
                  <a:lnTo>
                    <a:pt x="5190810" y="0"/>
                  </a:lnTo>
                  <a:lnTo>
                    <a:pt x="5190810" y="385341"/>
                  </a:lnTo>
                  <a:lnTo>
                    <a:pt x="0" y="385341"/>
                  </a:lnTo>
                  <a:close/>
                </a:path>
              </a:pathLst>
            </a:custGeom>
            <a:solidFill>
              <a:srgbClr val="000B3D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2501767" y="569741"/>
            <a:ext cx="5698101" cy="8991087"/>
          </a:xfrm>
          <a:custGeom>
            <a:avLst/>
            <a:gdLst/>
            <a:ahLst/>
            <a:cxnLst/>
            <a:rect r="r" b="b" t="t" l="l"/>
            <a:pathLst>
              <a:path h="8991087" w="5698101">
                <a:moveTo>
                  <a:pt x="0" y="0"/>
                </a:moveTo>
                <a:lnTo>
                  <a:pt x="5698101" y="0"/>
                </a:lnTo>
                <a:lnTo>
                  <a:pt x="5698101" y="8991087"/>
                </a:lnTo>
                <a:lnTo>
                  <a:pt x="0" y="8991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3106" y="2712806"/>
            <a:ext cx="7420377" cy="1370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72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Contexto del Proyecto y Problema Detectado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16316" y="4908812"/>
            <a:ext cx="7153957" cy="819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8"/>
              </a:lnSpc>
              <a:spcBef>
                <a:spcPct val="0"/>
              </a:spcBef>
            </a:pPr>
            <a:r>
              <a:rPr lang="en-US" b="true" sz="285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Diag</a:t>
            </a:r>
            <a:r>
              <a:rPr lang="en-US" b="true" sz="285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rama de Flujo del Proceso Actual</a:t>
            </a:r>
          </a:p>
          <a:p>
            <a:pPr algn="ctr">
              <a:lnSpc>
                <a:spcPts val="325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0593" y="686597"/>
            <a:ext cx="3650261" cy="688987"/>
          </a:xfrm>
          <a:custGeom>
            <a:avLst/>
            <a:gdLst/>
            <a:ahLst/>
            <a:cxnLst/>
            <a:rect r="r" b="b" t="t" l="l"/>
            <a:pathLst>
              <a:path h="688987" w="3650261">
                <a:moveTo>
                  <a:pt x="0" y="0"/>
                </a:moveTo>
                <a:lnTo>
                  <a:pt x="3650261" y="0"/>
                </a:lnTo>
                <a:lnTo>
                  <a:pt x="3650261" y="688987"/>
                </a:lnTo>
                <a:lnTo>
                  <a:pt x="0" y="688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88917"/>
            <a:ext cx="10037252" cy="1370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72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Objetivo General y Objetivos Específicos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278645"/>
            <a:ext cx="2363129" cy="175437"/>
            <a:chOff x="0" y="0"/>
            <a:chExt cx="5190797" cy="3853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0810" cy="385341"/>
            </a:xfrm>
            <a:custGeom>
              <a:avLst/>
              <a:gdLst/>
              <a:ahLst/>
              <a:cxnLst/>
              <a:rect r="r" b="b" t="t" l="l"/>
              <a:pathLst>
                <a:path h="385341" w="5190810">
                  <a:moveTo>
                    <a:pt x="0" y="0"/>
                  </a:moveTo>
                  <a:lnTo>
                    <a:pt x="5190810" y="0"/>
                  </a:lnTo>
                  <a:lnTo>
                    <a:pt x="5190810" y="385341"/>
                  </a:lnTo>
                  <a:lnTo>
                    <a:pt x="0" y="385341"/>
                  </a:lnTo>
                  <a:close/>
                </a:path>
              </a:pathLst>
            </a:custGeom>
            <a:solidFill>
              <a:srgbClr val="000B3D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3378007"/>
            <a:ext cx="16230600" cy="5492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81" indent="-345440" lvl="1">
              <a:lnSpc>
                <a:spcPts val="3648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Objetivo general: </a:t>
            </a:r>
            <a:r>
              <a:rPr lang="en-US" sz="3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Desarrollar una plataforma web de Inteligencia de Negocios Conversacional con Agentes de IA, para extraer y sintetizar información en tiempo real mediante contexto documental (RAG) y endpoints dinámicos, reduciendo la latencia de decisiones.</a:t>
            </a:r>
          </a:p>
          <a:p>
            <a:pPr algn="just">
              <a:lnSpc>
                <a:spcPts val="3648"/>
              </a:lnSpc>
            </a:pPr>
          </a:p>
          <a:p>
            <a:pPr algn="just" marL="690881" indent="-345440" lvl="1">
              <a:lnSpc>
                <a:spcPts val="3648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Objetivos específicos: </a:t>
            </a:r>
          </a:p>
          <a:p>
            <a:pPr algn="just" marL="690881" indent="-345440" lvl="1">
              <a:lnSpc>
                <a:spcPts val="3648"/>
              </a:lnSpc>
              <a:buAutoNum type="arabicPeriod" startAt="1"/>
            </a:pPr>
            <a:r>
              <a:rPr lang="en-US" b="true" sz="3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Diseñar una arquitectura de persistencia relacional estricta en MySQL.</a:t>
            </a:r>
          </a:p>
          <a:p>
            <a:pPr algn="just" marL="690881" indent="-345440" lvl="1">
              <a:lnSpc>
                <a:spcPts val="3648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Desarrollar módulo RAG para ingesta de documentos y mitigación de alucinaciones.</a:t>
            </a:r>
          </a:p>
          <a:p>
            <a:pPr algn="just" marL="690881" indent="-345440" lvl="1">
              <a:lnSpc>
                <a:spcPts val="3648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Integrar consumo autónomo de endpoints dinámicos.</a:t>
            </a:r>
          </a:p>
          <a:p>
            <a:pPr algn="just" marL="690881" indent="-345440" lvl="1">
              <a:lnSpc>
                <a:spcPts val="3648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Construir una interfaz web reactiva y asíncrona.</a:t>
            </a:r>
          </a:p>
          <a:p>
            <a:pPr algn="just" marL="0" indent="0" lvl="0">
              <a:lnSpc>
                <a:spcPts val="364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0593" y="686597"/>
            <a:ext cx="3650261" cy="688987"/>
          </a:xfrm>
          <a:custGeom>
            <a:avLst/>
            <a:gdLst/>
            <a:ahLst/>
            <a:cxnLst/>
            <a:rect r="r" b="b" t="t" l="l"/>
            <a:pathLst>
              <a:path h="688987" w="3650261">
                <a:moveTo>
                  <a:pt x="0" y="0"/>
                </a:moveTo>
                <a:lnTo>
                  <a:pt x="3650261" y="0"/>
                </a:lnTo>
                <a:lnTo>
                  <a:pt x="3650261" y="688987"/>
                </a:lnTo>
                <a:lnTo>
                  <a:pt x="0" y="688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278645"/>
            <a:ext cx="2363129" cy="175437"/>
            <a:chOff x="0" y="0"/>
            <a:chExt cx="5190797" cy="3853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90810" cy="385341"/>
            </a:xfrm>
            <a:custGeom>
              <a:avLst/>
              <a:gdLst/>
              <a:ahLst/>
              <a:cxnLst/>
              <a:rect r="r" b="b" t="t" l="l"/>
              <a:pathLst>
                <a:path h="385341" w="5190810">
                  <a:moveTo>
                    <a:pt x="0" y="0"/>
                  </a:moveTo>
                  <a:lnTo>
                    <a:pt x="5190810" y="0"/>
                  </a:lnTo>
                  <a:lnTo>
                    <a:pt x="5190810" y="385341"/>
                  </a:lnTo>
                  <a:lnTo>
                    <a:pt x="0" y="385341"/>
                  </a:lnTo>
                  <a:close/>
                </a:path>
              </a:pathLst>
            </a:custGeom>
            <a:solidFill>
              <a:srgbClr val="000B3D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4135113" y="6670857"/>
            <a:ext cx="2858990" cy="2755026"/>
          </a:xfrm>
          <a:custGeom>
            <a:avLst/>
            <a:gdLst/>
            <a:ahLst/>
            <a:cxnLst/>
            <a:rect r="r" b="b" t="t" l="l"/>
            <a:pathLst>
              <a:path h="2755026" w="2858990">
                <a:moveTo>
                  <a:pt x="0" y="0"/>
                </a:moveTo>
                <a:lnTo>
                  <a:pt x="2858990" y="0"/>
                </a:lnTo>
                <a:lnTo>
                  <a:pt x="2858990" y="2755026"/>
                </a:lnTo>
                <a:lnTo>
                  <a:pt x="0" y="27550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413684"/>
            <a:ext cx="10037252" cy="684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72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Mercado Objetivo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92229" y="3038704"/>
            <a:ext cx="8344757" cy="298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</a:t>
            </a:r>
            <a:r>
              <a:rPr lang="en-US" b="true" sz="33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rfil de Usuario:</a:t>
            </a:r>
            <a:r>
              <a:rPr lang="en-US" sz="3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Dueños de negocios de e-commerce/retail (PyMEs), ejecutivos C-Level y gerentes operativos de 30 a 50 años con alto costo de oportunidad.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30080" y="2482657"/>
            <a:ext cx="5813580" cy="549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79"/>
              </a:lnSpc>
              <a:spcBef>
                <a:spcPct val="0"/>
              </a:spcBef>
            </a:pPr>
            <a:r>
              <a:rPr lang="en-US" b="true" sz="384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Mapa de Stakeholders: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008204" y="3456162"/>
            <a:ext cx="5907010" cy="126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5"/>
              </a:lnSpc>
              <a:spcBef>
                <a:spcPct val="0"/>
              </a:spcBef>
            </a:pPr>
            <a:r>
              <a:rPr lang="en-US" b="true" sz="291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Cliente (Decisor):</a:t>
            </a:r>
            <a:r>
              <a:rPr lang="en-US" sz="291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Dueño o CEO que autoriza la integración para mejorar la eficiencia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30188" y="5204157"/>
            <a:ext cx="5885025" cy="1299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6"/>
              </a:lnSpc>
              <a:spcBef>
                <a:spcPct val="0"/>
              </a:spcBef>
            </a:pPr>
            <a:r>
              <a:rPr lang="en-US" b="true" sz="298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Usuario Final (Estratégico): </a:t>
            </a:r>
            <a:r>
              <a:rPr lang="en-US" sz="298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Alta dirección para consultas rápidas antes de reuniones.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98011" y="6990991"/>
            <a:ext cx="6327396" cy="1727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8"/>
              </a:lnSpc>
              <a:spcBef>
                <a:spcPct val="0"/>
              </a:spcBef>
            </a:pPr>
            <a:r>
              <a:rPr lang="en-US" b="true" sz="299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Usuario Final (Operativo): </a:t>
            </a:r>
            <a:r>
              <a:rPr lang="en-US" sz="299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Gerentes de Ventas o Logística para consultas tácticas del día a día.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0593" y="686597"/>
            <a:ext cx="3650261" cy="688987"/>
          </a:xfrm>
          <a:custGeom>
            <a:avLst/>
            <a:gdLst/>
            <a:ahLst/>
            <a:cxnLst/>
            <a:rect r="r" b="b" t="t" l="l"/>
            <a:pathLst>
              <a:path h="688987" w="3650261">
                <a:moveTo>
                  <a:pt x="0" y="0"/>
                </a:moveTo>
                <a:lnTo>
                  <a:pt x="3650261" y="0"/>
                </a:lnTo>
                <a:lnTo>
                  <a:pt x="3650261" y="688987"/>
                </a:lnTo>
                <a:lnTo>
                  <a:pt x="0" y="688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413684"/>
            <a:ext cx="10037252" cy="684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72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Alcance del Proyecto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278645"/>
            <a:ext cx="2363129" cy="175437"/>
            <a:chOff x="0" y="0"/>
            <a:chExt cx="5190797" cy="3853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0810" cy="385341"/>
            </a:xfrm>
            <a:custGeom>
              <a:avLst/>
              <a:gdLst/>
              <a:ahLst/>
              <a:cxnLst/>
              <a:rect r="r" b="b" t="t" l="l"/>
              <a:pathLst>
                <a:path h="385341" w="5190810">
                  <a:moveTo>
                    <a:pt x="0" y="0"/>
                  </a:moveTo>
                  <a:lnTo>
                    <a:pt x="5190810" y="0"/>
                  </a:lnTo>
                  <a:lnTo>
                    <a:pt x="5190810" y="385341"/>
                  </a:lnTo>
                  <a:lnTo>
                    <a:pt x="0" y="385341"/>
                  </a:lnTo>
                  <a:close/>
                </a:path>
              </a:pathLst>
            </a:custGeom>
            <a:solidFill>
              <a:srgbClr val="000B3D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05282" y="3378007"/>
            <a:ext cx="16077436" cy="4577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8"/>
              </a:lnSpc>
            </a:pPr>
            <a:r>
              <a:rPr lang="en-US" sz="32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Qué incluye: </a:t>
            </a:r>
            <a:r>
              <a:rPr lang="en-US" sz="3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Módulo de autenticación (JWT), chat web asíncrono, motor de contexto RAG (ingesta de PDF), consumo de APIs externas y persistencia relacional en MySQL.</a:t>
            </a:r>
          </a:p>
          <a:p>
            <a:pPr algn="just">
              <a:lnSpc>
                <a:spcPts val="3648"/>
              </a:lnSpc>
            </a:pPr>
          </a:p>
          <a:p>
            <a:pPr algn="just">
              <a:lnSpc>
                <a:spcPts val="3648"/>
              </a:lnSpc>
            </a:pPr>
          </a:p>
          <a:p>
            <a:pPr algn="l">
              <a:lnSpc>
                <a:spcPts val="3648"/>
              </a:lnSpc>
            </a:pPr>
            <a:r>
              <a:rPr lang="en-US" sz="32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Qué NO incluye:</a:t>
            </a:r>
            <a:r>
              <a:rPr lang="en-US" sz="3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Aplicaciones móviles nativas (solo web responsiva), entornos gráficos 3D, pasarelas de pago, ni conexión SQL directa a bases de datos de terceros (solo vía Endpoints).</a:t>
            </a:r>
          </a:p>
          <a:p>
            <a:pPr algn="just">
              <a:lnSpc>
                <a:spcPts val="3648"/>
              </a:lnSpc>
            </a:pPr>
          </a:p>
          <a:p>
            <a:pPr algn="just" marL="0" indent="0" lvl="0">
              <a:lnSpc>
                <a:spcPts val="364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0593" y="686597"/>
            <a:ext cx="3650261" cy="688987"/>
          </a:xfrm>
          <a:custGeom>
            <a:avLst/>
            <a:gdLst/>
            <a:ahLst/>
            <a:cxnLst/>
            <a:rect r="r" b="b" t="t" l="l"/>
            <a:pathLst>
              <a:path h="688987" w="3650261">
                <a:moveTo>
                  <a:pt x="0" y="0"/>
                </a:moveTo>
                <a:lnTo>
                  <a:pt x="3650261" y="0"/>
                </a:lnTo>
                <a:lnTo>
                  <a:pt x="3650261" y="688987"/>
                </a:lnTo>
                <a:lnTo>
                  <a:pt x="0" y="688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413684"/>
            <a:ext cx="10037252" cy="684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72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Alcance del Proyecto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278645"/>
            <a:ext cx="2363129" cy="175437"/>
            <a:chOff x="0" y="0"/>
            <a:chExt cx="5190797" cy="3853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0810" cy="385341"/>
            </a:xfrm>
            <a:custGeom>
              <a:avLst/>
              <a:gdLst/>
              <a:ahLst/>
              <a:cxnLst/>
              <a:rect r="r" b="b" t="t" l="l"/>
              <a:pathLst>
                <a:path h="385341" w="5190810">
                  <a:moveTo>
                    <a:pt x="0" y="0"/>
                  </a:moveTo>
                  <a:lnTo>
                    <a:pt x="5190810" y="0"/>
                  </a:lnTo>
                  <a:lnTo>
                    <a:pt x="5190810" y="385341"/>
                  </a:lnTo>
                  <a:lnTo>
                    <a:pt x="0" y="385341"/>
                  </a:lnTo>
                  <a:close/>
                </a:path>
              </a:pathLst>
            </a:custGeom>
            <a:solidFill>
              <a:srgbClr val="000B3D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05282" y="3120107"/>
            <a:ext cx="16077436" cy="5492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8"/>
              </a:lnSpc>
            </a:pPr>
            <a:r>
              <a:rPr lang="en-US" sz="32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Supu</a:t>
            </a:r>
            <a:r>
              <a:rPr lang="en-US" sz="32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estos y Restric</a:t>
            </a:r>
            <a:r>
              <a:rPr lang="en-US" sz="32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ciones: </a:t>
            </a:r>
            <a:r>
              <a:rPr lang="en-US" sz="3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Desarrollo limitado a 12 semanas (MVP de un solo desarrollador). Dependencia de que el cliente tenga P</a:t>
            </a:r>
            <a:r>
              <a:rPr lang="en-US" sz="3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DFs con texto legible y APIs RESTful operativas.</a:t>
            </a:r>
          </a:p>
          <a:p>
            <a:pPr algn="just">
              <a:lnSpc>
                <a:spcPts val="3648"/>
              </a:lnSpc>
            </a:pPr>
          </a:p>
          <a:p>
            <a:pPr algn="just">
              <a:lnSpc>
                <a:spcPts val="3648"/>
              </a:lnSpc>
            </a:pPr>
            <a:r>
              <a:rPr lang="en-US" sz="32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Restricciones de Desarrollo:</a:t>
            </a:r>
          </a:p>
          <a:p>
            <a:pPr algn="just">
              <a:lnSpc>
                <a:spcPts val="3648"/>
              </a:lnSpc>
            </a:pPr>
          </a:p>
          <a:p>
            <a:pPr algn="l" marL="690881" indent="-345440" lvl="1">
              <a:lnSpc>
                <a:spcPts val="3648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Tiempo: </a:t>
            </a:r>
            <a:r>
              <a:rPr lang="en-US" sz="3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Ciclo de ejecución estrictamente limitado a 12 semanas (4 Sprints).</a:t>
            </a:r>
          </a:p>
          <a:p>
            <a:pPr algn="l" marL="690881" indent="-345440" lvl="1">
              <a:lnSpc>
                <a:spcPts val="3648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Tecnológicas: </a:t>
            </a:r>
            <a:r>
              <a:rPr lang="en-US" sz="3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Sujeto a los límites de peticiones (rate limits) y latencia de los proveedores de IA.</a:t>
            </a:r>
          </a:p>
          <a:p>
            <a:pPr algn="l" marL="690881" indent="-345440" lvl="1">
              <a:lnSpc>
                <a:spcPts val="3648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Recursos Humanos: </a:t>
            </a:r>
            <a:r>
              <a:rPr lang="en-US" sz="3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Desarrollo Full-Stack integral realizado por un único desarrollador, limitando la paralelización de tareas.    </a:t>
            </a:r>
          </a:p>
          <a:p>
            <a:pPr algn="just" marL="0" indent="0" lvl="0">
              <a:lnSpc>
                <a:spcPts val="364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0593" y="686597"/>
            <a:ext cx="3650261" cy="688987"/>
          </a:xfrm>
          <a:custGeom>
            <a:avLst/>
            <a:gdLst/>
            <a:ahLst/>
            <a:cxnLst/>
            <a:rect r="r" b="b" t="t" l="l"/>
            <a:pathLst>
              <a:path h="688987" w="3650261">
                <a:moveTo>
                  <a:pt x="0" y="0"/>
                </a:moveTo>
                <a:lnTo>
                  <a:pt x="3650261" y="0"/>
                </a:lnTo>
                <a:lnTo>
                  <a:pt x="3650261" y="688987"/>
                </a:lnTo>
                <a:lnTo>
                  <a:pt x="0" y="688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242594" y="3309926"/>
            <a:ext cx="2363129" cy="175437"/>
            <a:chOff x="0" y="0"/>
            <a:chExt cx="5190797" cy="3853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90810" cy="385341"/>
            </a:xfrm>
            <a:custGeom>
              <a:avLst/>
              <a:gdLst/>
              <a:ahLst/>
              <a:cxnLst/>
              <a:rect r="r" b="b" t="t" l="l"/>
              <a:pathLst>
                <a:path h="385341" w="5190810">
                  <a:moveTo>
                    <a:pt x="0" y="0"/>
                  </a:moveTo>
                  <a:lnTo>
                    <a:pt x="5190810" y="0"/>
                  </a:lnTo>
                  <a:lnTo>
                    <a:pt x="5190810" y="385341"/>
                  </a:lnTo>
                  <a:lnTo>
                    <a:pt x="0" y="385341"/>
                  </a:lnTo>
                  <a:close/>
                </a:path>
              </a:pathLst>
            </a:custGeom>
            <a:solidFill>
              <a:srgbClr val="000B3D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209174" y="1031090"/>
            <a:ext cx="9413696" cy="8444179"/>
          </a:xfrm>
          <a:custGeom>
            <a:avLst/>
            <a:gdLst/>
            <a:ahLst/>
            <a:cxnLst/>
            <a:rect r="r" b="b" t="t" l="l"/>
            <a:pathLst>
              <a:path h="8444179" w="9413696">
                <a:moveTo>
                  <a:pt x="0" y="0"/>
                </a:moveTo>
                <a:lnTo>
                  <a:pt x="9413696" y="0"/>
                </a:lnTo>
                <a:lnTo>
                  <a:pt x="9413696" y="8444179"/>
                </a:lnTo>
                <a:lnTo>
                  <a:pt x="0" y="84441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468552" y="2628804"/>
            <a:ext cx="5790748" cy="574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572"/>
              </a:lnSpc>
              <a:spcBef>
                <a:spcPct val="0"/>
              </a:spcBef>
            </a:pPr>
            <a:r>
              <a:rPr lang="en-US" b="true" sz="401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Alcance del Proyecto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046918" y="3773940"/>
            <a:ext cx="4754480" cy="927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94"/>
              </a:lnSpc>
            </a:pPr>
            <a:r>
              <a:rPr lang="en-US" sz="5424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CARTA GANTT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0593" y="686597"/>
            <a:ext cx="3650261" cy="688987"/>
          </a:xfrm>
          <a:custGeom>
            <a:avLst/>
            <a:gdLst/>
            <a:ahLst/>
            <a:cxnLst/>
            <a:rect r="r" b="b" t="t" l="l"/>
            <a:pathLst>
              <a:path h="688987" w="3650261">
                <a:moveTo>
                  <a:pt x="0" y="0"/>
                </a:moveTo>
                <a:lnTo>
                  <a:pt x="3650261" y="0"/>
                </a:lnTo>
                <a:lnTo>
                  <a:pt x="3650261" y="688987"/>
                </a:lnTo>
                <a:lnTo>
                  <a:pt x="0" y="688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242594" y="3309926"/>
            <a:ext cx="2363129" cy="175437"/>
            <a:chOff x="0" y="0"/>
            <a:chExt cx="5190797" cy="3853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90810" cy="385341"/>
            </a:xfrm>
            <a:custGeom>
              <a:avLst/>
              <a:gdLst/>
              <a:ahLst/>
              <a:cxnLst/>
              <a:rect r="r" b="b" t="t" l="l"/>
              <a:pathLst>
                <a:path h="385341" w="5190810">
                  <a:moveTo>
                    <a:pt x="0" y="0"/>
                  </a:moveTo>
                  <a:lnTo>
                    <a:pt x="5190810" y="0"/>
                  </a:lnTo>
                  <a:lnTo>
                    <a:pt x="5190810" y="385341"/>
                  </a:lnTo>
                  <a:lnTo>
                    <a:pt x="0" y="385341"/>
                  </a:lnTo>
                  <a:close/>
                </a:path>
              </a:pathLst>
            </a:custGeom>
            <a:solidFill>
              <a:srgbClr val="000B3D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209174" y="1031090"/>
            <a:ext cx="9413696" cy="8444179"/>
          </a:xfrm>
          <a:custGeom>
            <a:avLst/>
            <a:gdLst/>
            <a:ahLst/>
            <a:cxnLst/>
            <a:rect r="r" b="b" t="t" l="l"/>
            <a:pathLst>
              <a:path h="8444179" w="9413696">
                <a:moveTo>
                  <a:pt x="0" y="0"/>
                </a:moveTo>
                <a:lnTo>
                  <a:pt x="9413696" y="0"/>
                </a:lnTo>
                <a:lnTo>
                  <a:pt x="9413696" y="8444179"/>
                </a:lnTo>
                <a:lnTo>
                  <a:pt x="0" y="84441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4" t="0" r="-464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468552" y="2628804"/>
            <a:ext cx="5790748" cy="574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572"/>
              </a:lnSpc>
              <a:spcBef>
                <a:spcPct val="0"/>
              </a:spcBef>
            </a:pPr>
            <a:r>
              <a:rPr lang="en-US" b="true" sz="401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Alcance del Proyecto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046918" y="3773940"/>
            <a:ext cx="4754480" cy="927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94"/>
              </a:lnSpc>
            </a:pPr>
            <a:r>
              <a:rPr lang="en-US" sz="5424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CARTA GANTT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0593" y="686597"/>
            <a:ext cx="3650261" cy="688987"/>
          </a:xfrm>
          <a:custGeom>
            <a:avLst/>
            <a:gdLst/>
            <a:ahLst/>
            <a:cxnLst/>
            <a:rect r="r" b="b" t="t" l="l"/>
            <a:pathLst>
              <a:path h="688987" w="3650261">
                <a:moveTo>
                  <a:pt x="0" y="0"/>
                </a:moveTo>
                <a:lnTo>
                  <a:pt x="3650261" y="0"/>
                </a:lnTo>
                <a:lnTo>
                  <a:pt x="3650261" y="688987"/>
                </a:lnTo>
                <a:lnTo>
                  <a:pt x="0" y="688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242594" y="3309926"/>
            <a:ext cx="2363129" cy="175437"/>
            <a:chOff x="0" y="0"/>
            <a:chExt cx="5190797" cy="3853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90810" cy="385341"/>
            </a:xfrm>
            <a:custGeom>
              <a:avLst/>
              <a:gdLst/>
              <a:ahLst/>
              <a:cxnLst/>
              <a:rect r="r" b="b" t="t" l="l"/>
              <a:pathLst>
                <a:path h="385341" w="5190810">
                  <a:moveTo>
                    <a:pt x="0" y="0"/>
                  </a:moveTo>
                  <a:lnTo>
                    <a:pt x="5190810" y="0"/>
                  </a:lnTo>
                  <a:lnTo>
                    <a:pt x="5190810" y="385341"/>
                  </a:lnTo>
                  <a:lnTo>
                    <a:pt x="0" y="385341"/>
                  </a:lnTo>
                  <a:close/>
                </a:path>
              </a:pathLst>
            </a:custGeom>
            <a:solidFill>
              <a:srgbClr val="000B3D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209174" y="1031090"/>
            <a:ext cx="9413696" cy="8444179"/>
          </a:xfrm>
          <a:custGeom>
            <a:avLst/>
            <a:gdLst/>
            <a:ahLst/>
            <a:cxnLst/>
            <a:rect r="r" b="b" t="t" l="l"/>
            <a:pathLst>
              <a:path h="8444179" w="9413696">
                <a:moveTo>
                  <a:pt x="0" y="0"/>
                </a:moveTo>
                <a:lnTo>
                  <a:pt x="9413696" y="0"/>
                </a:lnTo>
                <a:lnTo>
                  <a:pt x="9413696" y="8444179"/>
                </a:lnTo>
                <a:lnTo>
                  <a:pt x="0" y="84441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6" r="0" b="-16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468552" y="2628804"/>
            <a:ext cx="5790748" cy="574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572"/>
              </a:lnSpc>
              <a:spcBef>
                <a:spcPct val="0"/>
              </a:spcBef>
            </a:pPr>
            <a:r>
              <a:rPr lang="en-US" b="true" sz="401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Alcance del Proyecto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046918" y="3709485"/>
            <a:ext cx="4754480" cy="927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94"/>
              </a:lnSpc>
            </a:pPr>
            <a:r>
              <a:rPr lang="en-US" sz="5424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CARTA GANTT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0593" y="686597"/>
            <a:ext cx="3650261" cy="688987"/>
          </a:xfrm>
          <a:custGeom>
            <a:avLst/>
            <a:gdLst/>
            <a:ahLst/>
            <a:cxnLst/>
            <a:rect r="r" b="b" t="t" l="l"/>
            <a:pathLst>
              <a:path h="688987" w="3650261">
                <a:moveTo>
                  <a:pt x="0" y="0"/>
                </a:moveTo>
                <a:lnTo>
                  <a:pt x="3650261" y="0"/>
                </a:lnTo>
                <a:lnTo>
                  <a:pt x="3650261" y="688987"/>
                </a:lnTo>
                <a:lnTo>
                  <a:pt x="0" y="688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242594" y="3309926"/>
            <a:ext cx="2363129" cy="175437"/>
            <a:chOff x="0" y="0"/>
            <a:chExt cx="5190797" cy="3853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90810" cy="385341"/>
            </a:xfrm>
            <a:custGeom>
              <a:avLst/>
              <a:gdLst/>
              <a:ahLst/>
              <a:cxnLst/>
              <a:rect r="r" b="b" t="t" l="l"/>
              <a:pathLst>
                <a:path h="385341" w="5190810">
                  <a:moveTo>
                    <a:pt x="0" y="0"/>
                  </a:moveTo>
                  <a:lnTo>
                    <a:pt x="5190810" y="0"/>
                  </a:lnTo>
                  <a:lnTo>
                    <a:pt x="5190810" y="385341"/>
                  </a:lnTo>
                  <a:lnTo>
                    <a:pt x="0" y="385341"/>
                  </a:lnTo>
                  <a:close/>
                </a:path>
              </a:pathLst>
            </a:custGeom>
            <a:solidFill>
              <a:srgbClr val="000B3D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209174" y="1031090"/>
            <a:ext cx="9413696" cy="8444179"/>
          </a:xfrm>
          <a:custGeom>
            <a:avLst/>
            <a:gdLst/>
            <a:ahLst/>
            <a:cxnLst/>
            <a:rect r="r" b="b" t="t" l="l"/>
            <a:pathLst>
              <a:path h="8444179" w="9413696">
                <a:moveTo>
                  <a:pt x="0" y="0"/>
                </a:moveTo>
                <a:lnTo>
                  <a:pt x="9413696" y="0"/>
                </a:lnTo>
                <a:lnTo>
                  <a:pt x="9413696" y="8444179"/>
                </a:lnTo>
                <a:lnTo>
                  <a:pt x="0" y="84441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23" t="0" r="-323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468552" y="2628804"/>
            <a:ext cx="5790748" cy="574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572"/>
              </a:lnSpc>
              <a:spcBef>
                <a:spcPct val="0"/>
              </a:spcBef>
            </a:pPr>
            <a:r>
              <a:rPr lang="en-US" b="true" sz="401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Alcance del Proyecto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046918" y="3773940"/>
            <a:ext cx="4754480" cy="927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94"/>
              </a:lnSpc>
            </a:pPr>
            <a:r>
              <a:rPr lang="en-US" sz="5424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CARTA GANTT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0593" y="686597"/>
            <a:ext cx="3650261" cy="688987"/>
          </a:xfrm>
          <a:custGeom>
            <a:avLst/>
            <a:gdLst/>
            <a:ahLst/>
            <a:cxnLst/>
            <a:rect r="r" b="b" t="t" l="l"/>
            <a:pathLst>
              <a:path h="688987" w="3650261">
                <a:moveTo>
                  <a:pt x="0" y="0"/>
                </a:moveTo>
                <a:lnTo>
                  <a:pt x="3650261" y="0"/>
                </a:lnTo>
                <a:lnTo>
                  <a:pt x="3650261" y="688987"/>
                </a:lnTo>
                <a:lnTo>
                  <a:pt x="0" y="688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278645"/>
            <a:ext cx="2363129" cy="175437"/>
            <a:chOff x="0" y="0"/>
            <a:chExt cx="5190797" cy="3853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90810" cy="385341"/>
            </a:xfrm>
            <a:custGeom>
              <a:avLst/>
              <a:gdLst/>
              <a:ahLst/>
              <a:cxnLst/>
              <a:rect r="r" b="b" t="t" l="l"/>
              <a:pathLst>
                <a:path h="385341" w="5190810">
                  <a:moveTo>
                    <a:pt x="0" y="0"/>
                  </a:moveTo>
                  <a:lnTo>
                    <a:pt x="5190810" y="0"/>
                  </a:lnTo>
                  <a:lnTo>
                    <a:pt x="5190810" y="385341"/>
                  </a:lnTo>
                  <a:lnTo>
                    <a:pt x="0" y="385341"/>
                  </a:lnTo>
                  <a:close/>
                </a:path>
              </a:pathLst>
            </a:custGeom>
            <a:solidFill>
              <a:srgbClr val="000B3D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4521054" y="4089419"/>
            <a:ext cx="441540" cy="540862"/>
          </a:xfrm>
          <a:custGeom>
            <a:avLst/>
            <a:gdLst/>
            <a:ahLst/>
            <a:cxnLst/>
            <a:rect r="r" b="b" t="t" l="l"/>
            <a:pathLst>
              <a:path h="540862" w="441540">
                <a:moveTo>
                  <a:pt x="0" y="0"/>
                </a:moveTo>
                <a:lnTo>
                  <a:pt x="441541" y="0"/>
                </a:lnTo>
                <a:lnTo>
                  <a:pt x="441541" y="540862"/>
                </a:lnTo>
                <a:lnTo>
                  <a:pt x="0" y="5408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534995" y="5876696"/>
            <a:ext cx="427599" cy="536940"/>
          </a:xfrm>
          <a:custGeom>
            <a:avLst/>
            <a:gdLst/>
            <a:ahLst/>
            <a:cxnLst/>
            <a:rect r="r" b="b" t="t" l="l"/>
            <a:pathLst>
              <a:path h="536940" w="427599">
                <a:moveTo>
                  <a:pt x="0" y="0"/>
                </a:moveTo>
                <a:lnTo>
                  <a:pt x="427600" y="0"/>
                </a:lnTo>
                <a:lnTo>
                  <a:pt x="427600" y="536940"/>
                </a:lnTo>
                <a:lnTo>
                  <a:pt x="0" y="5369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765627" y="4078736"/>
            <a:ext cx="486363" cy="551546"/>
          </a:xfrm>
          <a:custGeom>
            <a:avLst/>
            <a:gdLst/>
            <a:ahLst/>
            <a:cxnLst/>
            <a:rect r="r" b="b" t="t" l="l"/>
            <a:pathLst>
              <a:path h="551546" w="486363">
                <a:moveTo>
                  <a:pt x="0" y="0"/>
                </a:moveTo>
                <a:lnTo>
                  <a:pt x="486363" y="0"/>
                </a:lnTo>
                <a:lnTo>
                  <a:pt x="486363" y="551545"/>
                </a:lnTo>
                <a:lnTo>
                  <a:pt x="0" y="55154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59558" y="5768310"/>
            <a:ext cx="690662" cy="543739"/>
          </a:xfrm>
          <a:custGeom>
            <a:avLst/>
            <a:gdLst/>
            <a:ahLst/>
            <a:cxnLst/>
            <a:rect r="r" b="b" t="t" l="l"/>
            <a:pathLst>
              <a:path h="543739" w="690662">
                <a:moveTo>
                  <a:pt x="0" y="0"/>
                </a:moveTo>
                <a:lnTo>
                  <a:pt x="690662" y="0"/>
                </a:lnTo>
                <a:lnTo>
                  <a:pt x="690662" y="543739"/>
                </a:lnTo>
                <a:lnTo>
                  <a:pt x="0" y="5437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037682" y="6806207"/>
            <a:ext cx="762763" cy="844791"/>
          </a:xfrm>
          <a:custGeom>
            <a:avLst/>
            <a:gdLst/>
            <a:ahLst/>
            <a:cxnLst/>
            <a:rect r="r" b="b" t="t" l="l"/>
            <a:pathLst>
              <a:path h="844791" w="762763">
                <a:moveTo>
                  <a:pt x="0" y="0"/>
                </a:moveTo>
                <a:lnTo>
                  <a:pt x="762763" y="0"/>
                </a:lnTo>
                <a:lnTo>
                  <a:pt x="762763" y="844790"/>
                </a:lnTo>
                <a:lnTo>
                  <a:pt x="0" y="8447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413684"/>
            <a:ext cx="10037252" cy="684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72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Propuesta de Solución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885181"/>
            <a:ext cx="16230600" cy="782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33" indent="-291467" lvl="1">
              <a:lnSpc>
                <a:spcPts val="3078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Descripción: </a:t>
            </a:r>
            <a:r>
              <a:rPr lang="en-US" sz="2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Un ecosistema de Conversational BI donde el directivo interactúa en lenguaje natural con agentes virtuales especializados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92608" y="6540336"/>
            <a:ext cx="5978429" cy="7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2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Ingesta de Contexto (RAG): 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Carga y vectorización de documentos privados (PDF/Texto) para alimentar el conocimiento de la IA.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97494" y="7805973"/>
            <a:ext cx="5389282" cy="775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2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- Consultas a Endpoints: 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Conexión con APIs externas para obtener métricas operativas (ventas, stock) en tiempo real.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05949" y="6423161"/>
            <a:ext cx="5885713" cy="7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2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Agentes Especializados: 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Configuración de asistentes con roles y permisos específicos según el área del negocio.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87802" y="4760454"/>
            <a:ext cx="5508045" cy="7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2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Seguridad JWT: 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Control de acceso y cifrado de datos para garantizar la privacidad de la información corporativa</a:t>
            </a:r>
            <a:r>
              <a:rPr lang="en-US" b="true" sz="1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373587" y="4736414"/>
            <a:ext cx="5462605" cy="7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2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Chat Reactivo y Trazabilidad: 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Interfaz asíncrona con estados de proceso y guardado automático del historial en MySQL.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53416" y="9090759"/>
            <a:ext cx="16077438" cy="39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2"/>
              </a:lnSpc>
              <a:spcBef>
                <a:spcPct val="0"/>
              </a:spcBef>
            </a:pPr>
            <a:r>
              <a:rPr lang="en-US" b="true" sz="279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Respuestas exactas, justificadas y libres de alucinaciones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0593" y="686597"/>
            <a:ext cx="3650261" cy="688987"/>
          </a:xfrm>
          <a:custGeom>
            <a:avLst/>
            <a:gdLst/>
            <a:ahLst/>
            <a:cxnLst/>
            <a:rect r="r" b="b" t="t" l="l"/>
            <a:pathLst>
              <a:path h="688987" w="3650261">
                <a:moveTo>
                  <a:pt x="0" y="0"/>
                </a:moveTo>
                <a:lnTo>
                  <a:pt x="3650261" y="0"/>
                </a:lnTo>
                <a:lnTo>
                  <a:pt x="3650261" y="688987"/>
                </a:lnTo>
                <a:lnTo>
                  <a:pt x="0" y="688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278645"/>
            <a:ext cx="2363129" cy="175437"/>
            <a:chOff x="0" y="0"/>
            <a:chExt cx="5190797" cy="3853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90810" cy="385341"/>
            </a:xfrm>
            <a:custGeom>
              <a:avLst/>
              <a:gdLst/>
              <a:ahLst/>
              <a:cxnLst/>
              <a:rect r="r" b="b" t="t" l="l"/>
              <a:pathLst>
                <a:path h="385341" w="5190810">
                  <a:moveTo>
                    <a:pt x="0" y="0"/>
                  </a:moveTo>
                  <a:lnTo>
                    <a:pt x="5190810" y="0"/>
                  </a:lnTo>
                  <a:lnTo>
                    <a:pt x="5190810" y="385341"/>
                  </a:lnTo>
                  <a:lnTo>
                    <a:pt x="0" y="385341"/>
                  </a:lnTo>
                  <a:close/>
                </a:path>
              </a:pathLst>
            </a:custGeom>
            <a:solidFill>
              <a:srgbClr val="000B3D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1690080" y="4848383"/>
            <a:ext cx="5569220" cy="4607758"/>
          </a:xfrm>
          <a:custGeom>
            <a:avLst/>
            <a:gdLst/>
            <a:ahLst/>
            <a:cxnLst/>
            <a:rect r="r" b="b" t="t" l="l"/>
            <a:pathLst>
              <a:path h="4607758" w="5569220">
                <a:moveTo>
                  <a:pt x="0" y="0"/>
                </a:moveTo>
                <a:lnTo>
                  <a:pt x="5569220" y="0"/>
                </a:lnTo>
                <a:lnTo>
                  <a:pt x="5569220" y="4607759"/>
                </a:lnTo>
                <a:lnTo>
                  <a:pt x="0" y="46077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4422" t="-3396" r="-36629" b="-9537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413684"/>
            <a:ext cx="10037252" cy="684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72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Propuesta de Solución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309366"/>
            <a:ext cx="16230600" cy="2291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81" indent="-345440" lvl="1">
              <a:lnSpc>
                <a:spcPts val="3648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Valor qu</a:t>
            </a:r>
            <a:r>
              <a:rPr lang="en-US" b="true" sz="3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 aporta al usuario/cliente</a:t>
            </a:r>
          </a:p>
          <a:p>
            <a:pPr algn="just">
              <a:lnSpc>
                <a:spcPts val="3648"/>
              </a:lnSpc>
            </a:pPr>
            <a:r>
              <a:rPr lang="en-US" sz="3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- Elimina la curva de aprendizaje de herramientas técnicas.       </a:t>
            </a:r>
          </a:p>
          <a:p>
            <a:pPr algn="just">
              <a:lnSpc>
                <a:spcPts val="3648"/>
              </a:lnSpc>
            </a:pPr>
            <a:r>
              <a:rPr lang="en-US" sz="3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- </a:t>
            </a:r>
            <a:r>
              <a:rPr lang="en-US" sz="3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Mitiga alucinaciones mediante el uso estricto de contexto privado.</a:t>
            </a:r>
          </a:p>
          <a:p>
            <a:pPr algn="just">
              <a:lnSpc>
                <a:spcPts val="3648"/>
              </a:lnSpc>
            </a:pPr>
          </a:p>
          <a:p>
            <a:pPr algn="just">
              <a:lnSpc>
                <a:spcPts val="3648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525307"/>
            <a:ext cx="11345869" cy="327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30"/>
              </a:lnSpc>
            </a:pPr>
            <a:r>
              <a:rPr lang="en-US" sz="327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Flujo general de uso</a:t>
            </a:r>
          </a:p>
          <a:p>
            <a:pPr algn="just">
              <a:lnSpc>
                <a:spcPts val="3730"/>
              </a:lnSpc>
            </a:pPr>
          </a:p>
          <a:p>
            <a:pPr algn="l" marL="706539" indent="-353269" lvl="1">
              <a:lnSpc>
                <a:spcPts val="3730"/>
              </a:lnSpc>
              <a:buAutoNum type="arabicPeriod" startAt="1"/>
            </a:pPr>
            <a:r>
              <a:rPr lang="en-US" sz="327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 usuario hace una pregunta estratégica.|</a:t>
            </a:r>
          </a:p>
          <a:p>
            <a:pPr algn="l" marL="706539" indent="-353269" lvl="1">
              <a:lnSpc>
                <a:spcPts val="3730"/>
              </a:lnSpc>
              <a:buAutoNum type="arabicPeriod" startAt="1"/>
            </a:pPr>
            <a:r>
              <a:rPr lang="en-US" sz="327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 sistema busca en contexto estático (RAG) y dinámico (APIs).</a:t>
            </a:r>
          </a:p>
          <a:p>
            <a:pPr algn="l" marL="706539" indent="-353269" lvl="1">
              <a:lnSpc>
                <a:spcPts val="3730"/>
              </a:lnSpc>
              <a:buAutoNum type="arabicPeriod" startAt="1"/>
            </a:pPr>
            <a:r>
              <a:rPr lang="en-US" sz="327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La IA entrega una respuesta sintetizada y justificada en segundos.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0593" y="686597"/>
            <a:ext cx="3650261" cy="688987"/>
          </a:xfrm>
          <a:custGeom>
            <a:avLst/>
            <a:gdLst/>
            <a:ahLst/>
            <a:cxnLst/>
            <a:rect r="r" b="b" t="t" l="l"/>
            <a:pathLst>
              <a:path h="688987" w="3650261">
                <a:moveTo>
                  <a:pt x="0" y="0"/>
                </a:moveTo>
                <a:lnTo>
                  <a:pt x="3650261" y="0"/>
                </a:lnTo>
                <a:lnTo>
                  <a:pt x="3650261" y="688987"/>
                </a:lnTo>
                <a:lnTo>
                  <a:pt x="0" y="688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278645"/>
            <a:ext cx="2363129" cy="175437"/>
            <a:chOff x="0" y="0"/>
            <a:chExt cx="5190797" cy="3853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90810" cy="385341"/>
            </a:xfrm>
            <a:custGeom>
              <a:avLst/>
              <a:gdLst/>
              <a:ahLst/>
              <a:cxnLst/>
              <a:rect r="r" b="b" t="t" l="l"/>
              <a:pathLst>
                <a:path h="385341" w="5190810">
                  <a:moveTo>
                    <a:pt x="0" y="0"/>
                  </a:moveTo>
                  <a:lnTo>
                    <a:pt x="5190810" y="0"/>
                  </a:lnTo>
                  <a:lnTo>
                    <a:pt x="5190810" y="385341"/>
                  </a:lnTo>
                  <a:lnTo>
                    <a:pt x="0" y="385341"/>
                  </a:lnTo>
                  <a:close/>
                </a:path>
              </a:pathLst>
            </a:custGeom>
            <a:solidFill>
              <a:srgbClr val="000B3D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4453847"/>
            <a:ext cx="16230600" cy="3347561"/>
          </a:xfrm>
          <a:custGeom>
            <a:avLst/>
            <a:gdLst/>
            <a:ahLst/>
            <a:cxnLst/>
            <a:rect r="r" b="b" t="t" l="l"/>
            <a:pathLst>
              <a:path h="3347561" w="16230600">
                <a:moveTo>
                  <a:pt x="0" y="0"/>
                </a:moveTo>
                <a:lnTo>
                  <a:pt x="16230600" y="0"/>
                </a:lnTo>
                <a:lnTo>
                  <a:pt x="16230600" y="3347561"/>
                </a:lnTo>
                <a:lnTo>
                  <a:pt x="0" y="33475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724697"/>
            <a:ext cx="10037252" cy="1370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72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Arquitectura y Tecnologías Utilizadas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225580"/>
            <a:ext cx="12808080" cy="462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81" indent="-345440" lvl="1">
              <a:lnSpc>
                <a:spcPts val="364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Diagrama de Arquitectura de la Solución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0593" y="686597"/>
            <a:ext cx="3650261" cy="688987"/>
          </a:xfrm>
          <a:custGeom>
            <a:avLst/>
            <a:gdLst/>
            <a:ahLst/>
            <a:cxnLst/>
            <a:rect r="r" b="b" t="t" l="l"/>
            <a:pathLst>
              <a:path h="688987" w="3650261">
                <a:moveTo>
                  <a:pt x="0" y="0"/>
                </a:moveTo>
                <a:lnTo>
                  <a:pt x="3650261" y="0"/>
                </a:lnTo>
                <a:lnTo>
                  <a:pt x="3650261" y="688987"/>
                </a:lnTo>
                <a:lnTo>
                  <a:pt x="0" y="688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278645"/>
            <a:ext cx="2363129" cy="175437"/>
            <a:chOff x="0" y="0"/>
            <a:chExt cx="5190797" cy="3853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90810" cy="385341"/>
            </a:xfrm>
            <a:custGeom>
              <a:avLst/>
              <a:gdLst/>
              <a:ahLst/>
              <a:cxnLst/>
              <a:rect r="r" b="b" t="t" l="l"/>
              <a:pathLst>
                <a:path h="385341" w="5190810">
                  <a:moveTo>
                    <a:pt x="0" y="0"/>
                  </a:moveTo>
                  <a:lnTo>
                    <a:pt x="5190810" y="0"/>
                  </a:lnTo>
                  <a:lnTo>
                    <a:pt x="5190810" y="385341"/>
                  </a:lnTo>
                  <a:lnTo>
                    <a:pt x="0" y="385341"/>
                  </a:lnTo>
                  <a:close/>
                </a:path>
              </a:pathLst>
            </a:custGeom>
            <a:solidFill>
              <a:srgbClr val="000B3D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3378007"/>
            <a:ext cx="16230600" cy="5692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2" indent="-323851" lvl="1">
              <a:lnSpc>
                <a:spcPts val="342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Tecnologías utilizadas:</a:t>
            </a:r>
          </a:p>
          <a:p>
            <a:pPr algn="just">
              <a:lnSpc>
                <a:spcPts val="3420"/>
              </a:lnSpc>
            </a:pPr>
          </a:p>
          <a:p>
            <a:pPr algn="l">
              <a:lnSpc>
                <a:spcPts val="3420"/>
              </a:lnSpc>
            </a:pPr>
            <a:r>
              <a:rPr lang="en-US" sz="30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- </a:t>
            </a:r>
            <a:r>
              <a:rPr lang="en-US" sz="30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Frontend: </a:t>
            </a: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HTML/JS/CSS servido por Nginx </a:t>
            </a:r>
          </a:p>
          <a:p>
            <a:pPr algn="l">
              <a:lnSpc>
                <a:spcPts val="3420"/>
              </a:lnSpc>
            </a:pPr>
          </a:p>
          <a:p>
            <a:pPr algn="l">
              <a:lnSpc>
                <a:spcPts val="3420"/>
              </a:lnSpc>
            </a:pPr>
            <a:r>
              <a:rPr lang="en-US" sz="30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- Backend: </a:t>
            </a: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Node.js (API Principal) gestionado con PM2.</a:t>
            </a:r>
          </a:p>
          <a:p>
            <a:pPr algn="l">
              <a:lnSpc>
                <a:spcPts val="3420"/>
              </a:lnSpc>
            </a:pPr>
          </a:p>
          <a:p>
            <a:pPr algn="l">
              <a:lnSpc>
                <a:spcPts val="3420"/>
              </a:lnSpc>
            </a:pPr>
            <a:r>
              <a:rPr lang="en-US" sz="30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- Base de datos:</a:t>
            </a:r>
            <a:r>
              <a:rPr lang="en-US" sz="3000" i="true" b="true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 </a:t>
            </a: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MySQL Server para historial y permisos.</a:t>
            </a:r>
          </a:p>
          <a:p>
            <a:pPr algn="l">
              <a:lnSpc>
                <a:spcPts val="3420"/>
              </a:lnSpc>
            </a:pPr>
          </a:p>
          <a:p>
            <a:pPr algn="l">
              <a:lnSpc>
                <a:spcPts val="3420"/>
              </a:lnSpc>
            </a:pPr>
            <a:r>
              <a:rPr lang="en-US" sz="30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- IA: </a:t>
            </a: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Servidor intermediario en Python  y conexión a API externa de DeepSeek. </a:t>
            </a:r>
          </a:p>
          <a:p>
            <a:pPr algn="l">
              <a:lnSpc>
                <a:spcPts val="3420"/>
              </a:lnSpc>
            </a:pPr>
          </a:p>
          <a:p>
            <a:pPr algn="l">
              <a:lnSpc>
                <a:spcPts val="3420"/>
              </a:lnSpc>
            </a:pPr>
            <a:r>
              <a:rPr lang="en-US" sz="30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- VPS (IaaS): </a:t>
            </a: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Python para el motor RAG.</a:t>
            </a:r>
          </a:p>
          <a:p>
            <a:pPr algn="l">
              <a:lnSpc>
                <a:spcPts val="3648"/>
              </a:lnSpc>
            </a:pPr>
          </a:p>
          <a:p>
            <a:pPr algn="just" marL="0" indent="0" lvl="0">
              <a:lnSpc>
                <a:spcPts val="4082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300089" y="2543781"/>
            <a:ext cx="3764029" cy="3670925"/>
          </a:xfrm>
          <a:custGeom>
            <a:avLst/>
            <a:gdLst/>
            <a:ahLst/>
            <a:cxnLst/>
            <a:rect r="r" b="b" t="t" l="l"/>
            <a:pathLst>
              <a:path h="3670925" w="3764029">
                <a:moveTo>
                  <a:pt x="0" y="0"/>
                </a:moveTo>
                <a:lnTo>
                  <a:pt x="3764029" y="0"/>
                </a:lnTo>
                <a:lnTo>
                  <a:pt x="3764029" y="3670925"/>
                </a:lnTo>
                <a:lnTo>
                  <a:pt x="0" y="36709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8771" t="-8461" r="-54242" b="-10762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724697"/>
            <a:ext cx="10037252" cy="1370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72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Arquitectura y Tecnologías Utilizadas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0593" y="686597"/>
            <a:ext cx="3650261" cy="688987"/>
          </a:xfrm>
          <a:custGeom>
            <a:avLst/>
            <a:gdLst/>
            <a:ahLst/>
            <a:cxnLst/>
            <a:rect r="r" b="b" t="t" l="l"/>
            <a:pathLst>
              <a:path h="688987" w="3650261">
                <a:moveTo>
                  <a:pt x="0" y="0"/>
                </a:moveTo>
                <a:lnTo>
                  <a:pt x="3650261" y="0"/>
                </a:lnTo>
                <a:lnTo>
                  <a:pt x="3650261" y="688987"/>
                </a:lnTo>
                <a:lnTo>
                  <a:pt x="0" y="688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724697"/>
            <a:ext cx="10037252" cy="1370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72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Arquitectura y Tecnologías Utilizadas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278645"/>
            <a:ext cx="2363129" cy="175437"/>
            <a:chOff x="0" y="0"/>
            <a:chExt cx="5190797" cy="3853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0810" cy="385341"/>
            </a:xfrm>
            <a:custGeom>
              <a:avLst/>
              <a:gdLst/>
              <a:ahLst/>
              <a:cxnLst/>
              <a:rect r="r" b="b" t="t" l="l"/>
              <a:pathLst>
                <a:path h="385341" w="5190810">
                  <a:moveTo>
                    <a:pt x="0" y="0"/>
                  </a:moveTo>
                  <a:lnTo>
                    <a:pt x="5190810" y="0"/>
                  </a:lnTo>
                  <a:lnTo>
                    <a:pt x="5190810" y="385341"/>
                  </a:lnTo>
                  <a:lnTo>
                    <a:pt x="0" y="385341"/>
                  </a:lnTo>
                  <a:close/>
                </a:path>
              </a:pathLst>
            </a:custGeom>
            <a:solidFill>
              <a:srgbClr val="000B3D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56330" y="2434438"/>
            <a:ext cx="15052841" cy="704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45"/>
              </a:lnSpc>
            </a:pPr>
          </a:p>
          <a:p>
            <a:pPr algn="just" marL="538893" indent="-269446" lvl="1">
              <a:lnSpc>
                <a:spcPts val="284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</a:t>
            </a:r>
            <a:r>
              <a:rPr lang="en-US" b="true" sz="249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ustificación técnica de las decisiones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951271" y="4053591"/>
            <a:ext cx="5357900" cy="1338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5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Frontend (HTML/JS + Nginx): </a:t>
            </a:r>
            <a:r>
              <a:rPr lang="en-US" sz="18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Cero overhead de frameworks pesados. JS nativo gestiona el chat en tiempo real eficientemente. Nginx actúa como escudo de seguridad (Proxy Inverso).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64729" y="4053591"/>
            <a:ext cx="5242916" cy="1338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5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Backend (Node.js + PM2): </a:t>
            </a:r>
            <a:r>
              <a:rPr lang="en-US" sz="18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Arquitectura asíncrona no bloqueante. Soporta cientos de conexiones de chat simultáneas sin colapsar. PM2 asegura disponibilidad ininterrumpida.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16412" y="6306610"/>
            <a:ext cx="4739550" cy="1338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5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</a:t>
            </a:r>
            <a:r>
              <a:rPr lang="en-US" b="true" sz="18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ase de Datos (MySQL): </a:t>
            </a:r>
            <a:r>
              <a:rPr lang="en-US" sz="18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Integridad relacional estricta (ACID). Las llaves foráneas son innegociables en B2B para asegurar historiales y aislar permisos de documentos.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01724" y="8063132"/>
            <a:ext cx="5255190" cy="160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5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Inteligencia Artificial (Python + DeepSeek):</a:t>
            </a:r>
            <a:r>
              <a:rPr lang="en-US" sz="18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Python es el estándar industrial para el motor RAG. DeepSeek aporta razonamiento de vanguardia sin los altísimos costos de procesar con GPUs locales.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095138" y="6306610"/>
            <a:ext cx="5070166" cy="1338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5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Nube / Infraestructura (VPS Propio): </a:t>
            </a:r>
            <a:r>
              <a:rPr lang="en-US" sz="18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Soberanía de datos absoluta. Privacidad total al no pasar por nubes públicas de terceros, logrando además latencia interna cero (conexiones localhost).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1710" y="304443"/>
            <a:ext cx="6546953" cy="1448513"/>
          </a:xfrm>
          <a:custGeom>
            <a:avLst/>
            <a:gdLst/>
            <a:ahLst/>
            <a:cxnLst/>
            <a:rect r="r" b="b" t="t" l="l"/>
            <a:pathLst>
              <a:path h="1448513" w="6546953">
                <a:moveTo>
                  <a:pt x="0" y="0"/>
                </a:moveTo>
                <a:lnTo>
                  <a:pt x="6546953" y="0"/>
                </a:lnTo>
                <a:lnTo>
                  <a:pt x="6546953" y="1448514"/>
                </a:lnTo>
                <a:lnTo>
                  <a:pt x="0" y="14485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309631"/>
            <a:ext cx="18288000" cy="8445731"/>
          </a:xfrm>
          <a:custGeom>
            <a:avLst/>
            <a:gdLst/>
            <a:ahLst/>
            <a:cxnLst/>
            <a:rect r="r" b="b" t="t" l="l"/>
            <a:pathLst>
              <a:path h="8445731" w="18288000">
                <a:moveTo>
                  <a:pt x="0" y="0"/>
                </a:moveTo>
                <a:lnTo>
                  <a:pt x="18288000" y="0"/>
                </a:lnTo>
                <a:lnTo>
                  <a:pt x="18288000" y="8445730"/>
                </a:lnTo>
                <a:lnTo>
                  <a:pt x="0" y="84457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735569" y="4506715"/>
            <a:ext cx="6816861" cy="1657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602"/>
              </a:lnSpc>
            </a:pPr>
            <a:r>
              <a:rPr lang="en-US" sz="971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AGENTE X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377615" y="9061139"/>
            <a:ext cx="1010044" cy="356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SIY6121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060111" y="659846"/>
            <a:ext cx="457497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Taller de Programación Aplicado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525283" y="8058571"/>
            <a:ext cx="186237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Mauricio Lillo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DAHF9FJOTKA</dc:identifier>
  <dcterms:modified xsi:type="dcterms:W3CDTF">2011-08-01T06:04:30Z</dcterms:modified>
  <cp:revision>1</cp:revision>
  <dc:title>Copia de Presentación EA1 - TAV- “NOMBRE PROYECTO”</dc:title>
</cp:coreProperties>
</file>